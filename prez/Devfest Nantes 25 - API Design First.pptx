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70" r:id="rId10"/>
    <p:sldMasterId id="2147483676" r:id="rId11"/>
  </p:sldMasterIdLst>
  <p:notesMasterIdLst>
    <p:notesMasterId r:id="rId69"/>
  </p:notesMasterIdLst>
  <p:sldIdLst>
    <p:sldId id="256" r:id="rId12"/>
    <p:sldId id="257" r:id="rId13"/>
    <p:sldId id="259" r:id="rId14"/>
    <p:sldId id="357" r:id="rId15"/>
    <p:sldId id="265" r:id="rId16"/>
    <p:sldId id="309" r:id="rId17"/>
    <p:sldId id="308" r:id="rId18"/>
    <p:sldId id="267" r:id="rId19"/>
    <p:sldId id="310" r:id="rId20"/>
    <p:sldId id="268" r:id="rId21"/>
    <p:sldId id="307" r:id="rId22"/>
    <p:sldId id="269" r:id="rId23"/>
    <p:sldId id="271" r:id="rId24"/>
    <p:sldId id="311" r:id="rId25"/>
    <p:sldId id="273" r:id="rId26"/>
    <p:sldId id="359" r:id="rId27"/>
    <p:sldId id="358" r:id="rId28"/>
    <p:sldId id="312" r:id="rId29"/>
    <p:sldId id="314" r:id="rId30"/>
    <p:sldId id="315" r:id="rId31"/>
    <p:sldId id="316" r:id="rId32"/>
    <p:sldId id="317" r:id="rId33"/>
    <p:sldId id="335" r:id="rId34"/>
    <p:sldId id="318" r:id="rId35"/>
    <p:sldId id="337" r:id="rId36"/>
    <p:sldId id="319" r:id="rId37"/>
    <p:sldId id="320" r:id="rId38"/>
    <p:sldId id="338" r:id="rId39"/>
    <p:sldId id="340" r:id="rId40"/>
    <p:sldId id="321" r:id="rId41"/>
    <p:sldId id="322" r:id="rId42"/>
    <p:sldId id="341" r:id="rId43"/>
    <p:sldId id="343" r:id="rId44"/>
    <p:sldId id="323" r:id="rId45"/>
    <p:sldId id="324" r:id="rId46"/>
    <p:sldId id="327" r:id="rId47"/>
    <p:sldId id="344" r:id="rId48"/>
    <p:sldId id="345" r:id="rId49"/>
    <p:sldId id="346" r:id="rId50"/>
    <p:sldId id="326" r:id="rId51"/>
    <p:sldId id="325" r:id="rId52"/>
    <p:sldId id="347" r:id="rId53"/>
    <p:sldId id="349" r:id="rId54"/>
    <p:sldId id="350" r:id="rId55"/>
    <p:sldId id="348" r:id="rId56"/>
    <p:sldId id="351" r:id="rId57"/>
    <p:sldId id="330" r:id="rId58"/>
    <p:sldId id="328" r:id="rId59"/>
    <p:sldId id="352" r:id="rId60"/>
    <p:sldId id="354" r:id="rId61"/>
    <p:sldId id="353" r:id="rId62"/>
    <p:sldId id="331" r:id="rId63"/>
    <p:sldId id="355" r:id="rId64"/>
    <p:sldId id="329" r:id="rId65"/>
    <p:sldId id="356" r:id="rId66"/>
    <p:sldId id="332" r:id="rId67"/>
    <p:sldId id="334" r:id="rId6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9178"/>
    <a:srgbClr val="569CD6"/>
    <a:srgbClr val="DCDCAA"/>
    <a:srgbClr val="4EC9B0"/>
    <a:srgbClr val="9CD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4503B-FE65-7525-3E4A-91BE5AD69E80}" v="19" dt="2025-10-15T13:07:12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66" Type="http://schemas.openxmlformats.org/officeDocument/2006/relationships/slide" Target="slides/slide55.xml"/><Relationship Id="rId7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0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slide" Target="slides/slide45.xml"/><Relationship Id="rId64" Type="http://schemas.openxmlformats.org/officeDocument/2006/relationships/slide" Target="slides/slide53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" Type="http://schemas.openxmlformats.org/officeDocument/2006/relationships/slideMaster" Target="slideMasters/slideMaster7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E412407-0CC3-4E03-92D2-D036DEAFB832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434520"/>
            <a:ext cx="822924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971640"/>
            <a:ext cx="8229240" cy="372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6BD0C7E-E4C6-4FB6-9380-DF418F9FDBC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333800" y="431280"/>
            <a:ext cx="6476040" cy="217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1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pic>
        <p:nvPicPr>
          <p:cNvPr id="4" name="Google Shape;11;p2"/>
          <p:cNvPicPr/>
          <p:nvPr/>
        </p:nvPicPr>
        <p:blipFill>
          <a:blip r:embed="rId4"/>
          <a:srcRect t="10" b="-10"/>
          <a:stretch/>
        </p:blipFill>
        <p:spPr>
          <a:xfrm>
            <a:off x="2594160" y="2909160"/>
            <a:ext cx="3955320" cy="27964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7;p11"/>
          <p:cNvPicPr/>
          <p:nvPr/>
        </p:nvPicPr>
        <p:blipFill>
          <a:blip r:embed="rId4"/>
          <a:srcRect t="16212" b="16914"/>
          <a:stretch/>
        </p:blipFill>
        <p:spPr>
          <a:xfrm>
            <a:off x="7601760" y="4705200"/>
            <a:ext cx="1023120" cy="483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2926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524960" y="1152360"/>
            <a:ext cx="73069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333800" y="1090080"/>
            <a:ext cx="6476040" cy="217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48680" y="488880"/>
            <a:ext cx="434052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728960" y="1364040"/>
            <a:ext cx="434052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pic>
        <p:nvPicPr>
          <p:cNvPr id="14" name="Google Shape;18;p4"/>
          <p:cNvPicPr/>
          <p:nvPr/>
        </p:nvPicPr>
        <p:blipFill>
          <a:blip r:embed="rId4"/>
          <a:srcRect t="16212" b="16914"/>
          <a:stretch/>
        </p:blipFill>
        <p:spPr>
          <a:xfrm>
            <a:off x="7601760" y="4705200"/>
            <a:ext cx="1023120" cy="483480"/>
          </a:xfrm>
          <a:prstGeom prst="rect">
            <a:avLst/>
          </a:prstGeom>
          <a:ln w="0">
            <a:noFill/>
          </a:ln>
        </p:spPr>
      </p:pic>
      <p:pic>
        <p:nvPicPr>
          <p:cNvPr id="15" name="Google Shape;19;p4"/>
          <p:cNvPicPr/>
          <p:nvPr/>
        </p:nvPicPr>
        <p:blipFill>
          <a:blip r:embed="rId5"/>
          <a:stretch/>
        </p:blipFill>
        <p:spPr>
          <a:xfrm>
            <a:off x="-535680" y="3902760"/>
            <a:ext cx="2909160" cy="1471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2926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524960" y="1152360"/>
            <a:ext cx="73069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pic>
        <p:nvPicPr>
          <p:cNvPr id="18" name="Google Shape;23;p5"/>
          <p:cNvPicPr/>
          <p:nvPr/>
        </p:nvPicPr>
        <p:blipFill>
          <a:blip r:embed="rId4"/>
          <a:srcRect l="13044" r="9149"/>
          <a:stretch/>
        </p:blipFill>
        <p:spPr>
          <a:xfrm>
            <a:off x="0" y="4195080"/>
            <a:ext cx="1500840" cy="1072440"/>
          </a:xfrm>
          <a:prstGeom prst="rect">
            <a:avLst/>
          </a:prstGeom>
          <a:ln w="0">
            <a:noFill/>
          </a:ln>
        </p:spPr>
      </p:pic>
      <p:pic>
        <p:nvPicPr>
          <p:cNvPr id="19" name="Google Shape;24;p5"/>
          <p:cNvPicPr/>
          <p:nvPr/>
        </p:nvPicPr>
        <p:blipFill>
          <a:blip r:embed="rId5"/>
          <a:srcRect t="16212" b="16914"/>
          <a:stretch/>
        </p:blipFill>
        <p:spPr>
          <a:xfrm>
            <a:off x="7601760" y="4705200"/>
            <a:ext cx="1023120" cy="4834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6;p6"/>
          <p:cNvPicPr/>
          <p:nvPr/>
        </p:nvPicPr>
        <p:blipFill>
          <a:blip r:embed="rId4"/>
          <a:srcRect r="3966"/>
          <a:stretch/>
        </p:blipFill>
        <p:spPr>
          <a:xfrm>
            <a:off x="-200880" y="3952800"/>
            <a:ext cx="2598840" cy="1537560"/>
          </a:xfrm>
          <a:prstGeom prst="rect">
            <a:avLst/>
          </a:prstGeom>
          <a:ln w="0">
            <a:noFill/>
          </a:ln>
        </p:spPr>
      </p:pic>
      <p:pic>
        <p:nvPicPr>
          <p:cNvPr id="21" name="Google Shape;27;p6"/>
          <p:cNvPicPr/>
          <p:nvPr/>
        </p:nvPicPr>
        <p:blipFill>
          <a:blip r:embed="rId5"/>
          <a:srcRect t="16212" b="16914"/>
          <a:stretch/>
        </p:blipFill>
        <p:spPr>
          <a:xfrm>
            <a:off x="7601760" y="4705200"/>
            <a:ext cx="1023120" cy="48348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973160" y="868680"/>
            <a:ext cx="6627960" cy="343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pic>
        <p:nvPicPr>
          <p:cNvPr id="25" name="Google Shape;30;p7"/>
          <p:cNvPicPr/>
          <p:nvPr/>
        </p:nvPicPr>
        <p:blipFill>
          <a:blip r:embed="rId4"/>
          <a:srcRect l="3994" r="3986"/>
          <a:stretch/>
        </p:blipFill>
        <p:spPr>
          <a:xfrm>
            <a:off x="0" y="3143160"/>
            <a:ext cx="2644200" cy="2000160"/>
          </a:xfrm>
          <a:prstGeom prst="rect">
            <a:avLst/>
          </a:prstGeom>
          <a:ln w="0">
            <a:noFill/>
          </a:ln>
        </p:spPr>
      </p:pic>
      <p:pic>
        <p:nvPicPr>
          <p:cNvPr id="26" name="Google Shape;31;p7"/>
          <p:cNvPicPr/>
          <p:nvPr/>
        </p:nvPicPr>
        <p:blipFill>
          <a:blip r:embed="rId5"/>
          <a:srcRect t="16212" b="16914"/>
          <a:stretch/>
        </p:blipFill>
        <p:spPr>
          <a:xfrm>
            <a:off x="7601760" y="4705200"/>
            <a:ext cx="1023120" cy="48348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2926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524960" y="1152360"/>
            <a:ext cx="73069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pic>
        <p:nvPicPr>
          <p:cNvPr id="38" name="Google Shape;45;p10"/>
          <p:cNvPicPr/>
          <p:nvPr/>
        </p:nvPicPr>
        <p:blipFill>
          <a:blip r:embed="rId4"/>
          <a:srcRect t="16212" b="16914"/>
          <a:stretch/>
        </p:blipFill>
        <p:spPr>
          <a:xfrm>
            <a:off x="7601760" y="4705200"/>
            <a:ext cx="1023120" cy="4834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434520"/>
            <a:ext cx="822924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971640"/>
            <a:ext cx="8229240" cy="372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sldNum" idx="1"/>
          </p:nvPr>
        </p:nvSpPr>
        <p:spPr>
          <a:xfrm>
            <a:off x="84805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400" b="0" strike="noStrike" spc="-1">
                <a:solidFill>
                  <a:srgbClr val="999999"/>
                </a:solidFill>
                <a:latin typeface="Barlow Light"/>
                <a:ea typeface="Barlow Ligh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F85CD4-9150-4000-8B77-8D46CE03F6B3}" type="slidenum">
              <a:rPr lang="fr" sz="1400" b="0" strike="noStrike" spc="-1">
                <a:solidFill>
                  <a:srgbClr val="999999"/>
                </a:solidFill>
                <a:latin typeface="Barlow Light"/>
                <a:ea typeface="Barlow Light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arken33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www.linkedin.com/in/philippe-bousquet-60845199/" TargetMode="External"/><Relationship Id="rId2" Type="http://schemas.openxmlformats.org/officeDocument/2006/relationships/hyperlink" Target="mailto:%3Cpbousquet@sqli.com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www.openapis.org/" TargetMode="External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hyperlink" Target="https://www.asyncapi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hyperlink" Target="https://editor.swagger.io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pi.tools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200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swagger-ui/index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tudio.asyncapi.com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yncapi.com/tools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zenwave360.io/zenwave-sdk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swagger-ui/index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4000" y="311400"/>
            <a:ext cx="8847720" cy="217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" sz="5100" b="1" strike="noStrike" spc="-1">
                <a:solidFill>
                  <a:srgbClr val="1E1E1E"/>
                </a:solidFill>
                <a:latin typeface="Playfair Display"/>
                <a:ea typeface="Playfair Display"/>
              </a:rPr>
              <a:t>Design First</a:t>
            </a:r>
            <a:br>
              <a:rPr sz="5100"/>
            </a:br>
            <a:r>
              <a:rPr lang="fr" sz="4000" b="1" strike="noStrike" spc="-1">
                <a:solidFill>
                  <a:srgbClr val="1E1E1E"/>
                </a:solidFill>
                <a:latin typeface="Playfair Display"/>
                <a:ea typeface="Playfair Display"/>
              </a:rPr>
              <a:t>OpenApi et AsyncApi en action !</a:t>
            </a:r>
            <a:endParaRPr lang="fr-FR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2282760" y="2325600"/>
            <a:ext cx="480600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" sz="2800" b="1" strike="noStrike" spc="-1">
                <a:solidFill>
                  <a:srgbClr val="1E1E1E"/>
                </a:solidFill>
                <a:latin typeface="Playfair Display"/>
                <a:ea typeface="Playfair Display"/>
              </a:rPr>
              <a:t>Philippe Bousquet</a:t>
            </a:r>
            <a:endParaRPr lang="fr-F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icture 1"/>
          <p:cNvSpPr/>
          <p:nvPr/>
        </p:nvSpPr>
        <p:spPr>
          <a:xfrm>
            <a:off x="2053080" y="2316600"/>
            <a:ext cx="918360" cy="92628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63500">
            <a:noFill/>
          </a:ln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/>
          </p:nvPr>
        </p:nvSpPr>
        <p:spPr>
          <a:xfrm>
            <a:off x="2610720" y="1038240"/>
            <a:ext cx="55782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8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Philippe Bousquet </a:t>
            </a:r>
            <a:r>
              <a:rPr lang="fr" sz="1800" b="0" u="sng" strike="noStrike" spc="-1" dirty="0">
                <a:solidFill>
                  <a:srgbClr val="0097A7"/>
                </a:solidFill>
                <a:uFillTx/>
                <a:latin typeface="Playfair Display Medium"/>
                <a:ea typeface="Playfair Display Medium"/>
                <a:hlinkClick r:id="rId2"/>
              </a:rPr>
              <a:t>&lt;pbousquet@sqli.com</a:t>
            </a:r>
            <a:r>
              <a:rPr lang="fr" sz="18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&gt;</a:t>
            </a:r>
            <a:endParaRPr lang="fr-FR" sz="1800" spc="-1">
              <a:solidFill>
                <a:srgbClr val="000000"/>
              </a:solidFill>
              <a:latin typeface="Arial"/>
              <a:ea typeface="Playfair Display Medium"/>
              <a:cs typeface="Arial"/>
            </a:endParaRPr>
          </a:p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800" b="0" strike="noStrike" spc="-1" dirty="0">
                <a:solidFill>
                  <a:srgbClr val="1E1E1E"/>
                </a:solidFill>
                <a:latin typeface="Playfair Display Medium"/>
                <a:ea typeface="Playfair Display Medium"/>
              </a:rPr>
              <a:t>Architecte / Directeur Technique chez SQLI </a:t>
            </a:r>
            <a:endParaRPr lang="fr-FR" sz="18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311760" y="2926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8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Qui suis-je ?</a:t>
            </a:r>
            <a:endParaRPr lang="fr-F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icture 2"/>
          <p:cNvSpPr/>
          <p:nvPr/>
        </p:nvSpPr>
        <p:spPr>
          <a:xfrm>
            <a:off x="826200" y="1123920"/>
            <a:ext cx="1318680" cy="132624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63500">
            <a:noFill/>
          </a:ln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Picture 3" descr="A close up of a logo&#10;&#10;AI-generated content may be incorrect."/>
          <p:cNvPicPr/>
          <p:nvPr/>
        </p:nvPicPr>
        <p:blipFill>
          <a:blip r:embed="rId4"/>
          <a:stretch/>
        </p:blipFill>
        <p:spPr>
          <a:xfrm>
            <a:off x="654120" y="3165728"/>
            <a:ext cx="1662480" cy="1183320"/>
          </a:xfrm>
          <a:prstGeom prst="rect">
            <a:avLst/>
          </a:prstGeom>
          <a:ln w="0">
            <a:noFill/>
          </a:ln>
        </p:spPr>
      </p:pic>
      <p:pic>
        <p:nvPicPr>
          <p:cNvPr id="65" name="Picture 1" descr="A black square with white letters&#10;&#10;AI-generated content may be incorrect."/>
          <p:cNvPicPr/>
          <p:nvPr/>
        </p:nvPicPr>
        <p:blipFill>
          <a:blip r:embed="rId5"/>
          <a:stretch/>
        </p:blipFill>
        <p:spPr>
          <a:xfrm>
            <a:off x="2990869" y="2195460"/>
            <a:ext cx="347400" cy="309240"/>
          </a:xfrm>
          <a:prstGeom prst="rect">
            <a:avLst/>
          </a:prstGeom>
          <a:ln w="0">
            <a:noFill/>
          </a:ln>
        </p:spPr>
      </p:pic>
      <p:pic>
        <p:nvPicPr>
          <p:cNvPr id="66" name="Picture 4" descr="A black cat in a circle&#10;&#10;AI-generated content may be incorrect."/>
          <p:cNvPicPr/>
          <p:nvPr/>
        </p:nvPicPr>
        <p:blipFill>
          <a:blip r:embed="rId6"/>
          <a:stretch/>
        </p:blipFill>
        <p:spPr>
          <a:xfrm>
            <a:off x="5229349" y="2157300"/>
            <a:ext cx="399600" cy="392400"/>
          </a:xfrm>
          <a:prstGeom prst="rect">
            <a:avLst/>
          </a:prstGeom>
          <a:ln w="0">
            <a:noFill/>
          </a:ln>
        </p:spPr>
      </p:pic>
      <p:sp>
        <p:nvSpPr>
          <p:cNvPr id="67" name="TextBox 5"/>
          <p:cNvSpPr/>
          <p:nvPr/>
        </p:nvSpPr>
        <p:spPr>
          <a:xfrm>
            <a:off x="3324949" y="2197260"/>
            <a:ext cx="16070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sng" strike="noStrike" spc="-1">
                <a:solidFill>
                  <a:srgbClr val="0097A7"/>
                </a:solidFill>
                <a:uFillTx/>
                <a:latin typeface="Playfair Display Medium"/>
                <a:ea typeface="Arial"/>
                <a:hlinkClick r:id="rId7"/>
              </a:rPr>
              <a:t>philippe bousquet</a:t>
            </a: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5596549" y="2197260"/>
            <a:ext cx="16070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sng" strike="noStrike" spc="-1">
                <a:solidFill>
                  <a:srgbClr val="0097A7"/>
                </a:solidFill>
                <a:uFillTx/>
                <a:latin typeface="Playfair Display Medium"/>
                <a:ea typeface="Arial"/>
                <a:hlinkClick r:id="rId8"/>
              </a:rPr>
              <a:t>darken33</a:t>
            </a: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Picture 9" descr="A white text on a black background&#10;&#10;AI-generated content may be incorrect."/>
          <p:cNvPicPr/>
          <p:nvPr/>
        </p:nvPicPr>
        <p:blipFill>
          <a:blip r:embed="rId9"/>
          <a:stretch/>
        </p:blipFill>
        <p:spPr>
          <a:xfrm>
            <a:off x="2993389" y="2695860"/>
            <a:ext cx="1585440" cy="365400"/>
          </a:xfrm>
          <a:prstGeom prst="rect">
            <a:avLst/>
          </a:prstGeom>
          <a:ln w="0">
            <a:noFill/>
          </a:ln>
        </p:spPr>
      </p:pic>
      <p:pic>
        <p:nvPicPr>
          <p:cNvPr id="70" name="Picture 10" descr="Bordeaux JUG"/>
          <p:cNvPicPr/>
          <p:nvPr/>
        </p:nvPicPr>
        <p:blipFill>
          <a:blip r:embed="rId10"/>
          <a:stretch/>
        </p:blipFill>
        <p:spPr>
          <a:xfrm>
            <a:off x="4814989" y="2612340"/>
            <a:ext cx="1235520" cy="546840"/>
          </a:xfrm>
          <a:prstGeom prst="rect">
            <a:avLst/>
          </a:prstGeom>
          <a:ln w="0">
            <a:noFill/>
          </a:ln>
        </p:spPr>
      </p:pic>
      <p:pic>
        <p:nvPicPr>
          <p:cNvPr id="71" name="Picture 11" descr="http://pjarillon.free.fr/docs/abul/etude-logos/AbulOrg2-blanc.png"/>
          <p:cNvPicPr/>
          <p:nvPr/>
        </p:nvPicPr>
        <p:blipFill>
          <a:blip r:embed="rId11"/>
          <a:stretch/>
        </p:blipFill>
        <p:spPr>
          <a:xfrm>
            <a:off x="6400789" y="2551140"/>
            <a:ext cx="671040" cy="6624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72" name="Table 13"/>
          <p:cNvGraphicFramePr/>
          <p:nvPr>
            <p:extLst>
              <p:ext uri="{D42A27DB-BD31-4B8C-83A1-F6EECF244321}">
                <p14:modId xmlns:p14="http://schemas.microsoft.com/office/powerpoint/2010/main" val="496367012"/>
              </p:ext>
            </p:extLst>
          </p:nvPr>
        </p:nvGraphicFramePr>
        <p:xfrm>
          <a:off x="2757600" y="3498728"/>
          <a:ext cx="5645160" cy="896938"/>
        </p:xfrm>
        <a:graphic>
          <a:graphicData uri="http://schemas.openxmlformats.org/drawingml/2006/table">
            <a:tbl>
              <a:tblPr/>
              <a:tblGrid>
                <a:gridCol w="188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560">
                <a:tc>
                  <a:txBody>
                    <a:bodyPr/>
                    <a:lstStyle/>
                    <a:p>
                      <a:pPr>
                        <a:lnSpc>
                          <a:spcPts val="4351"/>
                        </a:lnSpc>
                      </a:pPr>
                      <a:r>
                        <a:rPr lang="fr-FR" sz="3600" b="1" strike="noStrike" spc="-1">
                          <a:solidFill>
                            <a:schemeClr val="dk1"/>
                          </a:solidFill>
                          <a:latin typeface="TWK Everett Medium"/>
                          <a:ea typeface="Arial"/>
                        </a:rPr>
                        <a:t>1990</a:t>
                      </a:r>
                      <a:endParaRPr lang="fr-FR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351"/>
                        </a:lnSpc>
                      </a:pPr>
                      <a:r>
                        <a:rPr lang="fr-FR" sz="3600" b="1" strike="noStrike" spc="-1">
                          <a:solidFill>
                            <a:schemeClr val="dk1"/>
                          </a:solidFill>
                          <a:latin typeface="TWK Everett Medium"/>
                          <a:ea typeface="Arial"/>
                        </a:rPr>
                        <a:t>2200</a:t>
                      </a:r>
                      <a:endParaRPr lang="fr-FR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351"/>
                        </a:lnSpc>
                      </a:pPr>
                      <a:r>
                        <a:rPr lang="fr-FR" sz="3600" b="1" strike="noStrike" spc="-1">
                          <a:solidFill>
                            <a:schemeClr val="dk1"/>
                          </a:solidFill>
                          <a:latin typeface="TWK Everett Medium"/>
                          <a:ea typeface="Arial"/>
                        </a:rPr>
                        <a:t>6</a:t>
                      </a:r>
                      <a:endParaRPr lang="fr-FR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00">
                <a:tc>
                  <a:txBody>
                    <a:bodyPr/>
                    <a:lstStyle/>
                    <a:p>
                      <a:pPr>
                        <a:lnSpc>
                          <a:spcPts val="1426"/>
                        </a:lnSpc>
                      </a:pPr>
                      <a:r>
                        <a:rPr lang="fr-FR" sz="1200" b="0" strike="noStrike" spc="-1">
                          <a:solidFill>
                            <a:schemeClr val="dk1"/>
                          </a:solidFill>
                          <a:latin typeface="TWK Everett Light"/>
                          <a:ea typeface="Arial"/>
                        </a:rPr>
                        <a:t>Création</a:t>
                      </a:r>
                      <a:endParaRPr lang="fr-F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26"/>
                        </a:lnSpc>
                      </a:pPr>
                      <a:r>
                        <a:rPr lang="fr-FR" sz="1200" b="0" strike="noStrike" spc="-1">
                          <a:solidFill>
                            <a:schemeClr val="dk1"/>
                          </a:solidFill>
                          <a:latin typeface="TWK Everett Light"/>
                          <a:ea typeface="Arial"/>
                        </a:rPr>
                        <a:t>Employés</a:t>
                      </a:r>
                      <a:endParaRPr lang="fr-F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26"/>
                        </a:lnSpc>
                      </a:pPr>
                      <a:r>
                        <a:rPr lang="fr-FR" sz="1200" b="0" strike="noStrike" spc="-1">
                          <a:solidFill>
                            <a:schemeClr val="dk1"/>
                          </a:solidFill>
                          <a:latin typeface="TWK Everett Light"/>
                          <a:ea typeface="Arial"/>
                        </a:rPr>
                        <a:t>Agences en France</a:t>
                      </a:r>
                      <a:endParaRPr lang="fr-F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TextBox 14"/>
          <p:cNvSpPr/>
          <p:nvPr/>
        </p:nvSpPr>
        <p:spPr>
          <a:xfrm>
            <a:off x="778680" y="4279207"/>
            <a:ext cx="1406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3600" b="1" strike="noStrike" spc="-1">
                <a:solidFill>
                  <a:srgbClr val="C00000"/>
                </a:solidFill>
                <a:latin typeface="TWK Everett Medium"/>
                <a:ea typeface="Arial"/>
              </a:rPr>
              <a:t>#S14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705400" y="203131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Un peu d'historique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Picture 2" descr="A close-up of a photo of a person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35CF2A-7BAA-6E8A-B947-5978CFE6C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>
            <a:extLst>
              <a:ext uri="{FF2B5EF4-FFF2-40B4-BE49-F238E27FC236}">
                <a16:creationId xmlns:a16="http://schemas.microsoft.com/office/drawing/2014/main" id="{FBDFAE2D-E021-1D60-91B0-C80A0477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1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Un peu d'historique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Picture 2" descr="A close-up of a photo of a person&#10;&#10;AI-generated content may be incorrect.">
            <a:extLst>
              <a:ext uri="{FF2B5EF4-FFF2-40B4-BE49-F238E27FC236}">
                <a16:creationId xmlns:a16="http://schemas.microsoft.com/office/drawing/2014/main" id="{B070C37A-4D7D-7CDE-C13E-5BC0A5438C5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 descr="api history.drawio">
            <a:extLst>
              <a:ext uri="{FF2B5EF4-FFF2-40B4-BE49-F238E27FC236}">
                <a16:creationId xmlns:a16="http://schemas.microsoft.com/office/drawing/2014/main" id="{1ED93318-13E6-80CE-3330-4E2291B82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230" y="1107282"/>
            <a:ext cx="4990364" cy="35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29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Une démarche API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1" descr="A child standing on a stone staircase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61AA0-1871-322C-F398-D93C2823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>
            <a:extLst>
              <a:ext uri="{FF2B5EF4-FFF2-40B4-BE49-F238E27FC236}">
                <a16:creationId xmlns:a16="http://schemas.microsoft.com/office/drawing/2014/main" id="{F963D6DA-5389-7317-E5D5-D8AF104F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Une démarche API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1" descr="A child standing on a stone staircase&#10;&#10;AI-generated content may be incorrect.">
            <a:extLst>
              <a:ext uri="{FF2B5EF4-FFF2-40B4-BE49-F238E27FC236}">
                <a16:creationId xmlns:a16="http://schemas.microsoft.com/office/drawing/2014/main" id="{BBDF0C55-9180-6695-C4BC-F2E071646CC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6" descr="demarche api gbl">
            <a:extLst>
              <a:ext uri="{FF2B5EF4-FFF2-40B4-BE49-F238E27FC236}">
                <a16:creationId xmlns:a16="http://schemas.microsoft.com/office/drawing/2014/main" id="{0402BD57-4DBE-4F1F-139C-6EB6FE1E856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643120" y="1054890"/>
            <a:ext cx="6407640" cy="34689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06859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1058D-30F8-3A43-86E9-8337F33B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>
            <a:extLst>
              <a:ext uri="{FF2B5EF4-FFF2-40B4-BE49-F238E27FC236}">
                <a16:creationId xmlns:a16="http://schemas.microsoft.com/office/drawing/2014/main" id="{E7DBD0D0-D0AA-2CB1-4A02-E6C6BF52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Une démarche API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1" descr="A child standing on a stone staircase&#10;&#10;AI-generated content may be incorrect.">
            <a:extLst>
              <a:ext uri="{FF2B5EF4-FFF2-40B4-BE49-F238E27FC236}">
                <a16:creationId xmlns:a16="http://schemas.microsoft.com/office/drawing/2014/main" id="{9AFCDF7E-0B46-1101-3929-9E096D3320F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6" descr="demarche api gbl">
            <a:extLst>
              <a:ext uri="{FF2B5EF4-FFF2-40B4-BE49-F238E27FC236}">
                <a16:creationId xmlns:a16="http://schemas.microsoft.com/office/drawing/2014/main" id="{35CD65B5-9885-76C3-948E-50E1D991ADD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643120" y="1054890"/>
            <a:ext cx="6407640" cy="3468960"/>
          </a:xfrm>
          <a:prstGeom prst="rect">
            <a:avLst/>
          </a:prstGeom>
          <a:ln w="0">
            <a:noFill/>
          </a:ln>
        </p:spPr>
      </p:pic>
      <p:sp>
        <p:nvSpPr>
          <p:cNvPr id="100" name="Rectangle: Rounded Corners 2">
            <a:extLst>
              <a:ext uri="{FF2B5EF4-FFF2-40B4-BE49-F238E27FC236}">
                <a16:creationId xmlns:a16="http://schemas.microsoft.com/office/drawing/2014/main" id="{E901FDBD-3603-58AB-9677-2E9E0E99CA25}"/>
              </a:ext>
            </a:extLst>
          </p:cNvPr>
          <p:cNvSpPr/>
          <p:nvPr/>
        </p:nvSpPr>
        <p:spPr>
          <a:xfrm>
            <a:off x="2678040" y="1894050"/>
            <a:ext cx="6343200" cy="636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942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Code First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2"/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23B96-F378-E151-A8CA-78B81DF0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>
            <a:extLst>
              <a:ext uri="{FF2B5EF4-FFF2-40B4-BE49-F238E27FC236}">
                <a16:creationId xmlns:a16="http://schemas.microsoft.com/office/drawing/2014/main" id="{DD565C16-0E24-55D3-5574-4907386A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Code First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>
            <a:extLst>
              <a:ext uri="{FF2B5EF4-FFF2-40B4-BE49-F238E27FC236}">
                <a16:creationId xmlns:a16="http://schemas.microsoft.com/office/drawing/2014/main" id="{FAE629DB-1C72-D24E-E72E-E59F0BF5B85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On ouvre son IDE et on code son API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2">
            <a:extLst>
              <a:ext uri="{FF2B5EF4-FFF2-40B4-BE49-F238E27FC236}">
                <a16:creationId xmlns:a16="http://schemas.microsoft.com/office/drawing/2014/main" id="{5F4982D1-3E10-042D-A71B-9604350CDC1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sp>
        <p:nvSpPr>
          <p:cNvPr id="107" name="TextBox 1">
            <a:extLst>
              <a:ext uri="{FF2B5EF4-FFF2-40B4-BE49-F238E27FC236}">
                <a16:creationId xmlns:a16="http://schemas.microsoft.com/office/drawing/2014/main" id="{132840D3-69EE-0B69-614A-4E8EE7126CB9}"/>
              </a:ext>
            </a:extLst>
          </p:cNvPr>
          <p:cNvSpPr/>
          <p:nvPr/>
        </p:nvSpPr>
        <p:spPr>
          <a:xfrm>
            <a:off x="2871720" y="1485810"/>
            <a:ext cx="5250240" cy="238068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1440" tIns="45720" rIns="91440" bIns="4572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@</a:t>
            </a:r>
            <a:r>
              <a:rPr lang="en-US" sz="1000" b="0" strike="noStrike" spc="-1">
                <a:solidFill>
                  <a:srgbClr val="4EC9B0"/>
                </a:solidFill>
                <a:latin typeface="Consolas"/>
                <a:ea typeface="Arial"/>
              </a:rPr>
              <a:t>RestController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569CD6"/>
                </a:solidFill>
                <a:latin typeface="Consolas"/>
                <a:ea typeface="Arial"/>
              </a:rPr>
              <a:t>public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>
                <a:solidFill>
                  <a:srgbClr val="569CD6"/>
                </a:solidFill>
                <a:latin typeface="Consolas"/>
                <a:ea typeface="Arial"/>
              </a:rPr>
              <a:t>class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 err="1">
                <a:solidFill>
                  <a:srgbClr val="4EC9B0"/>
                </a:solidFill>
                <a:latin typeface="Consolas"/>
                <a:ea typeface="Arial"/>
              </a:rPr>
              <a:t>HelloApi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{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000"/>
            </a:b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 @</a:t>
            </a:r>
            <a:r>
              <a:rPr lang="en-US" sz="1000" b="0" strike="noStrike" spc="-1">
                <a:solidFill>
                  <a:srgbClr val="4EC9B0"/>
                </a:solidFill>
                <a:latin typeface="Consolas"/>
                <a:ea typeface="Arial"/>
              </a:rPr>
              <a:t>RequestMapping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(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    method </a:t>
            </a:r>
            <a:r>
              <a:rPr lang="en-US" sz="1000" b="0" strike="noStrike" spc="-1">
                <a:solidFill>
                  <a:srgbClr val="D4D4D4"/>
                </a:solidFill>
                <a:latin typeface="Consolas"/>
                <a:ea typeface="Arial"/>
              </a:rPr>
              <a:t>=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 err="1">
                <a:solidFill>
                  <a:srgbClr val="9CDCFE"/>
                </a:solidFill>
                <a:latin typeface="Consolas"/>
                <a:ea typeface="Arial"/>
              </a:rPr>
              <a:t>RequestMethod</a:t>
            </a:r>
            <a:r>
              <a:rPr lang="en-US" sz="1000" b="0" strike="noStrike" spc="-1" err="1">
                <a:solidFill>
                  <a:srgbClr val="CCCCCC"/>
                </a:solidFill>
                <a:latin typeface="Consolas"/>
                <a:ea typeface="Arial"/>
              </a:rPr>
              <a:t>.</a:t>
            </a:r>
            <a:r>
              <a:rPr lang="en-US" sz="1000" b="0" strike="noStrike" spc="-1" err="1">
                <a:solidFill>
                  <a:srgbClr val="9CDCFE"/>
                </a:solidFill>
                <a:latin typeface="Consolas"/>
                <a:ea typeface="Arial"/>
              </a:rPr>
              <a:t>GET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,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    value </a:t>
            </a:r>
            <a:r>
              <a:rPr lang="en-US" sz="1000" b="0" strike="noStrike" spc="-1">
                <a:solidFill>
                  <a:srgbClr val="D4D4D4"/>
                </a:solidFill>
                <a:latin typeface="Consolas"/>
                <a:ea typeface="Arial"/>
              </a:rPr>
              <a:t>=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>
                <a:solidFill>
                  <a:srgbClr val="CE9178"/>
                </a:solidFill>
                <a:latin typeface="Consolas"/>
                <a:ea typeface="Arial"/>
              </a:rPr>
              <a:t>"/</a:t>
            </a:r>
            <a:r>
              <a:rPr lang="en-US" sz="1000" b="0" strike="noStrike" spc="-1" err="1">
                <a:solidFill>
                  <a:srgbClr val="CE9178"/>
                </a:solidFill>
                <a:latin typeface="Consolas"/>
                <a:ea typeface="Arial"/>
              </a:rPr>
              <a:t>api</a:t>
            </a:r>
            <a:r>
              <a:rPr lang="en-US" sz="1000" b="0" strike="noStrike" spc="-1">
                <a:solidFill>
                  <a:srgbClr val="CE9178"/>
                </a:solidFill>
                <a:latin typeface="Consolas"/>
                <a:ea typeface="Arial"/>
              </a:rPr>
              <a:t>/v1/hello"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,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    produces </a:t>
            </a:r>
            <a:r>
              <a:rPr lang="en-US" sz="1000" b="0" strike="noStrike" spc="-1">
                <a:solidFill>
                  <a:srgbClr val="D4D4D4"/>
                </a:solidFill>
                <a:latin typeface="Consolas"/>
                <a:ea typeface="Arial"/>
              </a:rPr>
              <a:t>=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{ </a:t>
            </a:r>
            <a:r>
              <a:rPr lang="en-US" sz="1000" b="0" strike="noStrike" spc="-1">
                <a:solidFill>
                  <a:srgbClr val="CE9178"/>
                </a:solidFill>
                <a:latin typeface="Consolas"/>
                <a:ea typeface="Arial"/>
              </a:rPr>
              <a:t>"application/</a:t>
            </a:r>
            <a:r>
              <a:rPr lang="en-US" sz="1000" b="0" strike="noStrike" spc="-1" err="1">
                <a:solidFill>
                  <a:srgbClr val="CE9178"/>
                </a:solidFill>
                <a:latin typeface="Consolas"/>
                <a:ea typeface="Arial"/>
              </a:rPr>
              <a:t>json</a:t>
            </a:r>
            <a:r>
              <a:rPr lang="en-US" sz="1000" b="0" strike="noStrike" spc="-1">
                <a:solidFill>
                  <a:srgbClr val="CE9178"/>
                </a:solidFill>
                <a:latin typeface="Consolas"/>
                <a:ea typeface="Arial"/>
              </a:rPr>
              <a:t>"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}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  )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569CD6"/>
                </a:solidFill>
                <a:latin typeface="Consolas"/>
                <a:ea typeface="Arial"/>
              </a:rPr>
              <a:t>  public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 err="1">
                <a:solidFill>
                  <a:srgbClr val="4EC9B0"/>
                </a:solidFill>
                <a:latin typeface="Consolas"/>
                <a:ea typeface="Arial"/>
              </a:rPr>
              <a:t>ResponseEntity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&lt;</a:t>
            </a:r>
            <a:r>
              <a:rPr lang="en-US" sz="1000" b="0" strike="noStrike" spc="-1" err="1">
                <a:solidFill>
                  <a:srgbClr val="4EC9B0"/>
                </a:solidFill>
                <a:latin typeface="Consolas"/>
                <a:ea typeface="Arial"/>
              </a:rPr>
              <a:t>HelloDto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&gt; </a:t>
            </a:r>
            <a:r>
              <a:rPr lang="en-US" sz="1000" b="0" strike="noStrike" spc="-1">
                <a:solidFill>
                  <a:srgbClr val="DCDCAA"/>
                </a:solidFill>
                <a:latin typeface="Consolas"/>
                <a:ea typeface="Arial"/>
              </a:rPr>
              <a:t>hello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() {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4EC9B0"/>
                </a:solidFill>
                <a:latin typeface="Consolas"/>
                <a:ea typeface="Arial"/>
              </a:rPr>
              <a:t>    </a:t>
            </a:r>
            <a:r>
              <a:rPr lang="en-US" sz="1000" b="0" strike="noStrike" spc="-1" err="1">
                <a:solidFill>
                  <a:srgbClr val="4EC9B0"/>
                </a:solidFill>
                <a:latin typeface="Consolas"/>
                <a:ea typeface="Arial"/>
              </a:rPr>
              <a:t>HelloDto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>
                <a:solidFill>
                  <a:srgbClr val="9CDCFE"/>
                </a:solidFill>
                <a:latin typeface="Consolas"/>
                <a:ea typeface="Arial"/>
              </a:rPr>
              <a:t>result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>
                <a:solidFill>
                  <a:srgbClr val="D4D4D4"/>
                </a:solidFill>
                <a:latin typeface="Consolas"/>
                <a:ea typeface="Arial"/>
              </a:rPr>
              <a:t>=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>
                <a:solidFill>
                  <a:srgbClr val="C586C0"/>
                </a:solidFill>
                <a:latin typeface="Consolas"/>
                <a:ea typeface="Arial"/>
              </a:rPr>
              <a:t>new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 err="1">
                <a:solidFill>
                  <a:srgbClr val="DCDCAA"/>
                </a:solidFill>
                <a:latin typeface="Consolas"/>
                <a:ea typeface="Arial"/>
              </a:rPr>
              <a:t>HelloDto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();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9CDCFE"/>
                </a:solidFill>
                <a:latin typeface="Consolas"/>
                <a:ea typeface="Arial"/>
              </a:rPr>
              <a:t>    </a:t>
            </a:r>
            <a:r>
              <a:rPr lang="en-US" sz="1000" b="0" strike="noStrike" spc="-1" err="1">
                <a:solidFill>
                  <a:srgbClr val="9CDCFE"/>
                </a:solidFill>
                <a:latin typeface="Consolas"/>
                <a:ea typeface="Arial"/>
              </a:rPr>
              <a:t>result</a:t>
            </a:r>
            <a:r>
              <a:rPr lang="en-US" sz="1000" b="0" strike="noStrike" spc="-1" err="1">
                <a:solidFill>
                  <a:srgbClr val="CCCCCC"/>
                </a:solidFill>
                <a:latin typeface="Consolas"/>
                <a:ea typeface="Arial"/>
              </a:rPr>
              <a:t>.</a:t>
            </a:r>
            <a:r>
              <a:rPr lang="en-US" sz="1000" b="0" strike="noStrike" spc="-1" err="1">
                <a:solidFill>
                  <a:srgbClr val="DCDCAA"/>
                </a:solidFill>
                <a:latin typeface="Consolas"/>
                <a:ea typeface="Arial"/>
              </a:rPr>
              <a:t>setMessage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(</a:t>
            </a:r>
            <a:r>
              <a:rPr lang="en-US" sz="1000" b="0" strike="noStrike" spc="-1">
                <a:solidFill>
                  <a:srgbClr val="CE9178"/>
                </a:solidFill>
                <a:latin typeface="Consolas"/>
                <a:ea typeface="Arial"/>
              </a:rPr>
              <a:t>"Hello World"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);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C586C0"/>
                </a:solidFill>
                <a:latin typeface="Consolas"/>
                <a:ea typeface="Arial"/>
              </a:rPr>
              <a:t>    return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1000" b="0" strike="noStrike" spc="-1" err="1">
                <a:solidFill>
                  <a:srgbClr val="9CDCFE"/>
                </a:solidFill>
                <a:latin typeface="Consolas"/>
                <a:ea typeface="Arial"/>
              </a:rPr>
              <a:t>ResponseEntity</a:t>
            </a:r>
            <a:r>
              <a:rPr lang="en-US" sz="1000" b="0" strike="noStrike" spc="-1" err="1">
                <a:solidFill>
                  <a:srgbClr val="CCCCCC"/>
                </a:solidFill>
                <a:latin typeface="Consolas"/>
                <a:ea typeface="Arial"/>
              </a:rPr>
              <a:t>.</a:t>
            </a:r>
            <a:r>
              <a:rPr lang="en-US" sz="1000" b="0" strike="noStrike" spc="-1" err="1">
                <a:solidFill>
                  <a:srgbClr val="DCDCAA"/>
                </a:solidFill>
                <a:latin typeface="Consolas"/>
                <a:ea typeface="Arial"/>
              </a:rPr>
              <a:t>ok</a:t>
            </a: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(result);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  }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000"/>
            </a:br>
            <a:r>
              <a:rPr lang="en-US" sz="1000" b="0" strike="noStrike" spc="-1">
                <a:solidFill>
                  <a:srgbClr val="CCCCCC"/>
                </a:solidFill>
                <a:latin typeface="Consolas"/>
                <a:ea typeface="Arial"/>
              </a:rPr>
              <a:t>}​</a:t>
            </a:r>
            <a:endParaRPr lang="fr-FR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8863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Code First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Et cela fonctionne, on ouvre le navigateur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indent="0" algn="ctr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800" b="1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Aucune documentation de notre API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2"/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1" descr="A screenshot of a computer&#10;&#10;AI-generated content may be incorrect."/>
          <p:cNvPicPr/>
          <p:nvPr/>
        </p:nvPicPr>
        <p:blipFill>
          <a:blip r:embed="rId3"/>
          <a:stretch/>
        </p:blipFill>
        <p:spPr>
          <a:xfrm>
            <a:off x="2702880" y="1438290"/>
            <a:ext cx="6295680" cy="169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14D6-482B-E8D7-F5EC-7E628A9A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>
            <a:extLst>
              <a:ext uri="{FF2B5EF4-FFF2-40B4-BE49-F238E27FC236}">
                <a16:creationId xmlns:a16="http://schemas.microsoft.com/office/drawing/2014/main" id="{8F6B4567-9E7E-25CC-8254-CF8FDAD2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Code First</a:t>
            </a:r>
            <a:endParaRPr lang="fr" sz="2400" b="0" strike="noStrike" spc="-1">
              <a:solidFill>
                <a:srgbClr val="1E1E1E"/>
              </a:solidFill>
              <a:latin typeface="Playfair Display Medium"/>
            </a:endParaRPr>
          </a:p>
        </p:txBody>
      </p:sp>
      <p:sp>
        <p:nvSpPr>
          <p:cNvPr id="109" name="PlaceHolder 2">
            <a:extLst>
              <a:ext uri="{FF2B5EF4-FFF2-40B4-BE49-F238E27FC236}">
                <a16:creationId xmlns:a16="http://schemas.microsoft.com/office/drawing/2014/main" id="{DB2A5329-DBFF-AE23-6E42-F9DF2CF55EB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</a:rPr>
              <a:t>On peut cependant ajouter des annotations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</a:rPr>
              <a:t>OpenApi</a:t>
            </a:r>
            <a:endParaRPr lang="en-US" err="1"/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2">
            <a:extLst>
              <a:ext uri="{FF2B5EF4-FFF2-40B4-BE49-F238E27FC236}">
                <a16:creationId xmlns:a16="http://schemas.microsoft.com/office/drawing/2014/main" id="{854485C5-FBDD-FC26-EC75-4406FFF23BD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65ED6889-DF54-9377-8685-3799CC40D856}"/>
              </a:ext>
            </a:extLst>
          </p:cNvPr>
          <p:cNvSpPr/>
          <p:nvPr/>
        </p:nvSpPr>
        <p:spPr>
          <a:xfrm>
            <a:off x="2871720" y="1485810"/>
            <a:ext cx="5250240" cy="2923877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1440" tIns="45720" rIns="91440" bIns="4572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  @</a:t>
            </a:r>
            <a:r>
              <a:rPr lang="en-US" sz="800" b="0" strike="noStrike" spc="-1">
                <a:solidFill>
                  <a:srgbClr val="4EC9B0"/>
                </a:solidFill>
                <a:latin typeface="Consolas"/>
                <a:ea typeface="Arial"/>
              </a:rPr>
              <a:t>RequestMapping</a:t>
            </a: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(</a:t>
            </a:r>
            <a:endParaRPr lang="fr-FR" sz="800" b="0" strike="noStrike" spc="-1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</a:rPr>
              <a:t>    </a:t>
            </a:r>
            <a:r>
              <a:rPr lang="en-US" sz="800" spc="-1">
                <a:solidFill>
                  <a:srgbClr val="CE9178"/>
                </a:solidFill>
                <a:latin typeface="Consolas"/>
              </a:rPr>
              <a:t>...</a:t>
            </a:r>
            <a:endParaRPr lang="fr-FR" sz="800">
              <a:solidFill>
                <a:srgbClr val="CE9178"/>
              </a:solidFill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  )</a:t>
            </a:r>
            <a:endParaRPr lang="en-US" sz="800" b="0" strike="noStrike" spc="-1">
              <a:solidFill>
                <a:srgbClr val="CCCCCC"/>
              </a:solidFill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@</a:t>
            </a:r>
            <a:r>
              <a:rPr lang="en-US" sz="8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Operation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</a:t>
            </a:r>
            <a:r>
              <a:rPr lang="en-US" sz="8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operationId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sz="8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helloWithName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summary = 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sz="8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Saluer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8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une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8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personne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8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en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 particulier"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tags = { 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"Hello"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},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responses = {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  @</a:t>
            </a:r>
            <a:r>
              <a:rPr lang="en-US" sz="8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ApiResponse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endParaRPr lang="en-US" sz="8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    </a:t>
            </a:r>
            <a:r>
              <a:rPr lang="en-US" sz="8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responseCode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"200"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 </a:t>
            </a:r>
            <a:endParaRPr lang="en-US" sz="8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    description  = 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"OK"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 </a:t>
            </a:r>
            <a:endParaRPr lang="en-US" sz="8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    content      = {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      @</a:t>
            </a:r>
            <a:r>
              <a:rPr lang="en-US" sz="8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Content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endParaRPr lang="en-US" sz="8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        </a:t>
            </a:r>
            <a:r>
              <a:rPr lang="en-US" sz="8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mediaType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"application/</a:t>
            </a:r>
            <a:r>
              <a:rPr lang="en-US" sz="8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json</a:t>
            </a:r>
            <a:r>
              <a:rPr lang="en-US" sz="8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 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        schema = @</a:t>
            </a:r>
            <a:r>
              <a:rPr lang="en-US" sz="8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Schema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(implementation = </a:t>
            </a:r>
            <a:r>
              <a:rPr lang="en-US" sz="8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HelloDto.class</a:t>
            </a:r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</a:t>
            </a:r>
            <a:endParaRPr lang="en-US" sz="8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      )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    }</a:t>
            </a:r>
            <a:endParaRPr lang="en-US" sz="8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  ),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  }</a:t>
            </a:r>
            <a:endParaRPr lang="en-US" sz="800">
              <a:latin typeface="Consolas"/>
            </a:endParaRPr>
          </a:p>
          <a:p>
            <a:r>
              <a:rPr lang="en-US" sz="8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 )</a:t>
            </a:r>
            <a:endParaRPr lang="en-US" sz="800">
              <a:latin typeface="Consolas"/>
            </a:endParaRPr>
          </a:p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569CD6"/>
                </a:solidFill>
                <a:latin typeface="Consolas"/>
                <a:ea typeface="Arial"/>
              </a:rPr>
              <a:t>  public</a:t>
            </a: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lang="en-US" sz="800" b="0" strike="noStrike" spc="-1" err="1">
                <a:solidFill>
                  <a:srgbClr val="4EC9B0"/>
                </a:solidFill>
                <a:latin typeface="Consolas"/>
                <a:ea typeface="Arial"/>
              </a:rPr>
              <a:t>ResponseEntity</a:t>
            </a: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&lt;</a:t>
            </a:r>
            <a:r>
              <a:rPr lang="en-US" sz="800" b="0" strike="noStrike" spc="-1" err="1">
                <a:solidFill>
                  <a:srgbClr val="4EC9B0"/>
                </a:solidFill>
                <a:latin typeface="Consolas"/>
                <a:ea typeface="Arial"/>
              </a:rPr>
              <a:t>HelloDto</a:t>
            </a: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&gt; </a:t>
            </a:r>
            <a:r>
              <a:rPr lang="en-US" sz="800" b="0" strike="noStrike" spc="-1">
                <a:solidFill>
                  <a:srgbClr val="DCDCAA"/>
                </a:solidFill>
                <a:latin typeface="Consolas"/>
                <a:ea typeface="Arial"/>
              </a:rPr>
              <a:t>hello</a:t>
            </a: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() {</a:t>
            </a:r>
            <a:endParaRPr lang="fr-FR" sz="800" b="0" strike="noStrike" spc="-1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800" spc="-1">
                <a:solidFill>
                  <a:srgbClr val="4EC9B0"/>
                </a:solidFill>
                <a:latin typeface="Consolas"/>
              </a:rPr>
              <a:t>    </a:t>
            </a:r>
            <a:r>
              <a:rPr lang="en-US" sz="800" spc="-1">
                <a:solidFill>
                  <a:srgbClr val="CE9178"/>
                </a:solidFill>
                <a:latin typeface="Consolas"/>
              </a:rPr>
              <a:t>...</a:t>
            </a:r>
            <a:endParaRPr lang="fr-FR" sz="800">
              <a:solidFill>
                <a:srgbClr val="CE9178"/>
              </a:solidFill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CCCCCC"/>
                </a:solidFill>
                <a:latin typeface="Consolas"/>
                <a:ea typeface="Arial"/>
              </a:rPr>
              <a:t>  }</a:t>
            </a:r>
            <a:endParaRPr lang="fr-FR" sz="800" b="0" strike="noStrike" spc="-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90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Code First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Pour résumer :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marL="170815" indent="-170815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  <a:tabLst>
                <a:tab pos="0" algn="l"/>
              </a:tabLst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Coder 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l'API</a:t>
            </a: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directement dans</a:t>
            </a: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son IDE</a:t>
            </a:r>
            <a:endParaRPr lang="fr-FR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170815" indent="-170815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  <a:tabLst>
                <a:tab pos="0" algn="l"/>
              </a:tabLst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Documentation inexistante</a:t>
            </a:r>
            <a:endParaRPr lang="fr-FR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170815" indent="-170815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  <a:tabLst>
                <a:tab pos="0" algn="l"/>
              </a:tabLst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L'API doit être disponible pour développer les consommateurs</a:t>
            </a:r>
            <a:endParaRPr lang="fr-FR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170815" indent="-170815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  <a:tabLst>
                <a:tab pos="0" algn="l"/>
              </a:tabLst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Des outils existent pour générer la Documentation</a:t>
            </a:r>
            <a:endParaRPr lang="fr-FR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2"/>
          <p:cNvPicPr/>
          <p:nvPr/>
        </p:nvPicPr>
        <p:blipFill>
          <a:blip r:embed="rId2"/>
          <a:stretch/>
        </p:blipFill>
        <p:spPr>
          <a:xfrm>
            <a:off x="0" y="360"/>
            <a:ext cx="25714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Design First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1" descr="A group of colored pencils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F758-3321-9F2E-678E-25A8FA7B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>
            <a:extLst>
              <a:ext uri="{FF2B5EF4-FFF2-40B4-BE49-F238E27FC236}">
                <a16:creationId xmlns:a16="http://schemas.microsoft.com/office/drawing/2014/main" id="{7D5AEF2D-9758-710A-8E22-82EAA444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Design First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>
            <a:extLst>
              <a:ext uri="{FF2B5EF4-FFF2-40B4-BE49-F238E27FC236}">
                <a16:creationId xmlns:a16="http://schemas.microsoft.com/office/drawing/2014/main" id="{D6D4C569-364A-C141-CE73-0A331B5BACA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360" indent="-171360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Spécifier son API en amont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Implémenter plus efficacement son API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Faciliter l'intégration par les consommateurs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Simuler le fonctionnement de l'API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14000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Avoir une documentation en adéquation avec le code</a:t>
            </a: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1" descr="A group of colored pencils&#10;&#10;AI-generated content may be incorrect.">
            <a:extLst>
              <a:ext uri="{FF2B5EF4-FFF2-40B4-BE49-F238E27FC236}">
                <a16:creationId xmlns:a16="http://schemas.microsoft.com/office/drawing/2014/main" id="{530CBCE6-2230-9CB9-CCC4-73141B2D7D6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041195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OpenApi &amp; AsyncApi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Picture 2" descr="A white rectangular sign with black text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4D12-ADA3-8CA2-D05F-7AF32BEF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142DD21E-9D8B-4CC8-F49C-03777B8F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OpenApi &amp; AsyncApi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Picture 2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F52B9829-7B9C-FECC-5347-1790925F3EC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A2F46E-C33B-573D-4F46-DB46186B8E72}"/>
              </a:ext>
            </a:extLst>
          </p:cNvPr>
          <p:cNvGraphicFramePr>
            <a:graphicFrameLocks noGrp="1"/>
          </p:cNvGraphicFramePr>
          <p:nvPr/>
        </p:nvGraphicFramePr>
        <p:xfrm>
          <a:off x="3004661" y="1322451"/>
          <a:ext cx="56445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135">
                  <a:extLst>
                    <a:ext uri="{9D8B030D-6E8A-4147-A177-3AD203B41FA5}">
                      <a16:colId xmlns:a16="http://schemas.microsoft.com/office/drawing/2014/main" val="3589514121"/>
                    </a:ext>
                  </a:extLst>
                </a:gridCol>
                <a:gridCol w="1411135">
                  <a:extLst>
                    <a:ext uri="{9D8B030D-6E8A-4147-A177-3AD203B41FA5}">
                      <a16:colId xmlns:a16="http://schemas.microsoft.com/office/drawing/2014/main" val="3942749859"/>
                    </a:ext>
                  </a:extLst>
                </a:gridCol>
                <a:gridCol w="1411135">
                  <a:extLst>
                    <a:ext uri="{9D8B030D-6E8A-4147-A177-3AD203B41FA5}">
                      <a16:colId xmlns:a16="http://schemas.microsoft.com/office/drawing/2014/main" val="3521489309"/>
                    </a:ext>
                  </a:extLst>
                </a:gridCol>
                <a:gridCol w="1411135">
                  <a:extLst>
                    <a:ext uri="{9D8B030D-6E8A-4147-A177-3AD203B41FA5}">
                      <a16:colId xmlns:a16="http://schemas.microsoft.com/office/drawing/2014/main" val="2788866515"/>
                    </a:ext>
                  </a:extLst>
                </a:gridCol>
              </a:tblGrid>
              <a:tr h="300644">
                <a:tc>
                  <a:txBody>
                    <a:bodyPr/>
                    <a:lstStyle/>
                    <a:p>
                      <a:r>
                        <a:rPr lang="en-US" err="1"/>
                        <a:t>Année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74861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r>
                        <a:rPr lang="en-US" sz="160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057457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r>
                        <a:rPr lang="en-US" sz="160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813737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r>
                        <a:rPr lang="en-US" sz="1600"/>
                        <a:t>2015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/>
                        <a:t>Smart Bear </a:t>
                      </a:r>
                      <a:r>
                        <a:rPr lang="en-US" sz="1600" err="1"/>
                        <a:t>cède</a:t>
                      </a:r>
                      <a:r>
                        <a:rPr lang="en-US" sz="1600"/>
                        <a:t> Swagger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87339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v3.0.0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Fran Méndez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201928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v2.0.0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19448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v3.1.0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v2.2.0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011602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v2.5.0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9505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v3.0.0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866702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v3.2.0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292095"/>
                  </a:ext>
                </a:extLst>
              </a:tr>
            </a:tbl>
          </a:graphicData>
        </a:graphic>
      </p:graphicFrame>
      <p:pic>
        <p:nvPicPr>
          <p:cNvPr id="3" name="Picture 2" descr="Swagger (logiciel) — Wikipédia">
            <a:extLst>
              <a:ext uri="{FF2B5EF4-FFF2-40B4-BE49-F238E27FC236}">
                <a16:creationId xmlns:a16="http://schemas.microsoft.com/office/drawing/2014/main" id="{1906D764-D0D2-9C23-9EA5-D55AE9A8F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078" y="1350169"/>
            <a:ext cx="319831" cy="314327"/>
          </a:xfrm>
          <a:prstGeom prst="rect">
            <a:avLst/>
          </a:prstGeom>
        </p:spPr>
      </p:pic>
      <p:pic>
        <p:nvPicPr>
          <p:cNvPr id="4" name="Picture 3" descr="Openapi Original PNG Logo — Download Free Transparent Logo">
            <a:extLst>
              <a:ext uri="{FF2B5EF4-FFF2-40B4-BE49-F238E27FC236}">
                <a16:creationId xmlns:a16="http://schemas.microsoft.com/office/drawing/2014/main" id="{51BCF353-DAC5-665D-8159-C3832F2B2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038" y="1369865"/>
            <a:ext cx="283369" cy="283369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A0D6B266-79AA-3B8E-0A95-5B8140E15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866" y="1364985"/>
            <a:ext cx="316706" cy="28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66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0F280-EF8C-1D0E-E407-6187402D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2F7E2CE0-B6F3-2AA3-9AD3-F9784F21F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Les initiatives</a:t>
            </a:r>
            <a:endParaRPr lang="fr-FR"/>
          </a:p>
        </p:txBody>
      </p:sp>
      <p:pic>
        <p:nvPicPr>
          <p:cNvPr id="124" name="Picture 2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185C8E00-319C-6A60-A04B-22DA78225EE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BA0960-0C23-1102-AEEA-0CE803C6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704489"/>
              </p:ext>
            </p:extLst>
          </p:nvPr>
        </p:nvGraphicFramePr>
        <p:xfrm>
          <a:off x="3004661" y="1322451"/>
          <a:ext cx="589505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540">
                  <a:extLst>
                    <a:ext uri="{9D8B030D-6E8A-4147-A177-3AD203B41FA5}">
                      <a16:colId xmlns:a16="http://schemas.microsoft.com/office/drawing/2014/main" val="3589514121"/>
                    </a:ext>
                  </a:extLst>
                </a:gridCol>
                <a:gridCol w="1994958">
                  <a:extLst>
                    <a:ext uri="{9D8B030D-6E8A-4147-A177-3AD203B41FA5}">
                      <a16:colId xmlns:a16="http://schemas.microsoft.com/office/drawing/2014/main" val="3521489309"/>
                    </a:ext>
                  </a:extLst>
                </a:gridCol>
                <a:gridCol w="2148553">
                  <a:extLst>
                    <a:ext uri="{9D8B030D-6E8A-4147-A177-3AD203B41FA5}">
                      <a16:colId xmlns:a16="http://schemas.microsoft.com/office/drawing/2014/main" val="2788866515"/>
                    </a:ext>
                  </a:extLst>
                </a:gridCol>
              </a:tblGrid>
              <a:tr h="30064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74861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Site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  <a:hlinkClick r:id="rId3"/>
                        </a:rPr>
                        <a:t>https://www.openapis.org/</a:t>
                      </a:r>
                      <a:r>
                        <a:rPr lang="en-US" sz="1200" b="0" i="0" u="none" strike="noStrike" noProof="0">
                          <a:latin typeface="Arial"/>
                        </a:rPr>
                        <a:t> </a:t>
                      </a: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  <a:hlinkClick r:id="rId4"/>
                        </a:rPr>
                        <a:t>https://www.asyncapi.com/</a:t>
                      </a:r>
                      <a:r>
                        <a:rPr lang="en-US" sz="1200" b="0" i="0" u="none" strike="noStrike" noProof="0">
                          <a:latin typeface="Arial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057457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r>
                        <a:rPr lang="en-US" sz="1400"/>
                        <a:t>Linux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813737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err="1"/>
                        <a:t>Spécifications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87339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201928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err="1"/>
                        <a:t>Outillage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19448"/>
                  </a:ext>
                </a:extLst>
              </a:tr>
              <a:tr h="3006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err="1"/>
                        <a:t>Communauté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011602"/>
                  </a:ext>
                </a:extLst>
              </a:tr>
            </a:tbl>
          </a:graphicData>
        </a:graphic>
      </p:graphicFrame>
      <p:pic>
        <p:nvPicPr>
          <p:cNvPr id="4" name="Picture 3" descr="Openapi Original PNG Logo — Download Free Transparent Logo">
            <a:extLst>
              <a:ext uri="{FF2B5EF4-FFF2-40B4-BE49-F238E27FC236}">
                <a16:creationId xmlns:a16="http://schemas.microsoft.com/office/drawing/2014/main" id="{F64356D0-CC8F-2943-DB60-B316264DE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663" y="1343406"/>
            <a:ext cx="283369" cy="283369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4B92B595-061F-C0C7-EC2B-FC6314324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4324" y="1343818"/>
            <a:ext cx="316706" cy="288132"/>
          </a:xfrm>
          <a:prstGeom prst="rect">
            <a:avLst/>
          </a:prstGeom>
        </p:spPr>
      </p:pic>
      <p:pic>
        <p:nvPicPr>
          <p:cNvPr id="5" name="Image 4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5D753ECB-3F02-2DC1-E134-244302C71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1080" y="2029884"/>
            <a:ext cx="220134" cy="226484"/>
          </a:xfrm>
          <a:prstGeom prst="rect">
            <a:avLst/>
          </a:prstGeom>
        </p:spPr>
      </p:pic>
      <p:pic>
        <p:nvPicPr>
          <p:cNvPr id="7" name="Image 6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AA1853C0-3BCB-2324-A9FF-33154BA7AE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1080" y="2326217"/>
            <a:ext cx="220134" cy="226484"/>
          </a:xfrm>
          <a:prstGeom prst="rect">
            <a:avLst/>
          </a:prstGeom>
        </p:spPr>
      </p:pic>
      <p:pic>
        <p:nvPicPr>
          <p:cNvPr id="8" name="Image 7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B326A874-B398-74D7-2ADA-67EB52431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1080" y="2633134"/>
            <a:ext cx="220134" cy="226484"/>
          </a:xfrm>
          <a:prstGeom prst="rect">
            <a:avLst/>
          </a:prstGeom>
        </p:spPr>
      </p:pic>
      <p:pic>
        <p:nvPicPr>
          <p:cNvPr id="9" name="Image 8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90E5247B-298B-4D6D-758E-B27937F139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1080" y="3236384"/>
            <a:ext cx="220134" cy="226484"/>
          </a:xfrm>
          <a:prstGeom prst="rect">
            <a:avLst/>
          </a:prstGeom>
        </p:spPr>
      </p:pic>
      <p:pic>
        <p:nvPicPr>
          <p:cNvPr id="15" name="Image 14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D18F85E7-EDB9-2957-B86B-EC6194EC72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913" y="2029884"/>
            <a:ext cx="220134" cy="226484"/>
          </a:xfrm>
          <a:prstGeom prst="rect">
            <a:avLst/>
          </a:prstGeom>
        </p:spPr>
      </p:pic>
      <p:pic>
        <p:nvPicPr>
          <p:cNvPr id="16" name="Image 15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A73AFC37-6F87-D98F-AF84-63681DB72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913" y="2326216"/>
            <a:ext cx="220134" cy="226484"/>
          </a:xfrm>
          <a:prstGeom prst="rect">
            <a:avLst/>
          </a:prstGeom>
        </p:spPr>
      </p:pic>
      <p:pic>
        <p:nvPicPr>
          <p:cNvPr id="17" name="Image 16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AAD6722F-740C-BAA5-C8B0-746D4F0D86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913" y="2633134"/>
            <a:ext cx="220134" cy="226484"/>
          </a:xfrm>
          <a:prstGeom prst="rect">
            <a:avLst/>
          </a:prstGeom>
        </p:spPr>
      </p:pic>
      <p:pic>
        <p:nvPicPr>
          <p:cNvPr id="18" name="Image 17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413D0354-A150-4374-1384-F38F70503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913" y="3236384"/>
            <a:ext cx="220134" cy="226484"/>
          </a:xfrm>
          <a:prstGeom prst="rect">
            <a:avLst/>
          </a:prstGeom>
        </p:spPr>
      </p:pic>
      <p:pic>
        <p:nvPicPr>
          <p:cNvPr id="19" name="Image 18" descr="Une image contenant Graphique, Caractère coloré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73BCE586-8215-0B49-6C4F-4010B9DF69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6620" y="2940051"/>
            <a:ext cx="220134" cy="226484"/>
          </a:xfrm>
          <a:prstGeom prst="rect">
            <a:avLst/>
          </a:prstGeom>
        </p:spPr>
      </p:pic>
      <p:pic>
        <p:nvPicPr>
          <p:cNvPr id="20" name="Image 19" descr="Une image contenant symbole, ligne, Panneau de signalisation, Caractère coloré&#10;&#10;Le contenu généré par l’IA peut être incorrect.">
            <a:extLst>
              <a:ext uri="{FF2B5EF4-FFF2-40B4-BE49-F238E27FC236}">
                <a16:creationId xmlns:a16="http://schemas.microsoft.com/office/drawing/2014/main" id="{C640015F-03C6-7F1B-2F6B-D7A84544EC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6371" y="2940050"/>
            <a:ext cx="214842" cy="22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85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CD9B-BC31-AA6E-5D80-07DAB156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8B3EFE37-6D5C-5BDD-6FED-25CEE775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Les spécifications</a:t>
            </a:r>
            <a:endParaRPr lang="fr-FR"/>
          </a:p>
        </p:txBody>
      </p:sp>
      <p:pic>
        <p:nvPicPr>
          <p:cNvPr id="124" name="Picture 2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04EF471E-4222-5DC7-F279-29F9FC97B18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2571480" cy="5143320"/>
          </a:xfrm>
          <a:prstGeom prst="rect">
            <a:avLst/>
          </a:prstGeom>
          <a:ln w="0">
            <a:noFill/>
          </a:ln>
        </p:spPr>
      </p:pic>
      <p:pic>
        <p:nvPicPr>
          <p:cNvPr id="3" name="Image 2" descr="openapi asyncapi.drawio">
            <a:extLst>
              <a:ext uri="{FF2B5EF4-FFF2-40B4-BE49-F238E27FC236}">
                <a16:creationId xmlns:a16="http://schemas.microsoft.com/office/drawing/2014/main" id="{4487007D-B7C6-997F-1DD3-22A0739F2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8" y="994833"/>
            <a:ext cx="3585740" cy="39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66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8050-F27E-A5AA-53F7-E1816D0D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26866DCC-66B5-E354-A006-9C6ED4C92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0" y="0"/>
            <a:ext cx="2571750" cy="5143500"/>
          </a:xfrm>
          <a:prstGeom prst="rect">
            <a:avLst/>
          </a:prstGeom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ABFF30BB-04AE-26A2-B216-AA9A87613B4A}"/>
              </a:ext>
            </a:extLst>
          </p:cNvPr>
          <p:cNvSpPr txBox="1">
            <a:spLocks/>
          </p:cNvSpPr>
          <p:nvPr/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latin typeface="Playfair Display Medium"/>
              </a:rPr>
              <a:t>OpenApi</a:t>
            </a: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 : notre cas d'usage</a:t>
            </a:r>
            <a:endParaRPr lang="en-US" sz="2400">
              <a:latin typeface="Playfair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64948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CE02-E70D-B37A-5BE5-26A9DDB7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llo c4 Hello Architecture.drawio">
            <a:extLst>
              <a:ext uri="{FF2B5EF4-FFF2-40B4-BE49-F238E27FC236}">
                <a16:creationId xmlns:a16="http://schemas.microsoft.com/office/drawing/2014/main" id="{0EF71B22-43D1-5846-E117-839928663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963" y="1135856"/>
            <a:ext cx="5331249" cy="3429000"/>
          </a:xfrm>
          <a:prstGeom prst="rect">
            <a:avLst/>
          </a:prstGeom>
        </p:spPr>
      </p:pic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25FCEEFC-C899-3AEB-BC1B-67F752924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62" y="0"/>
            <a:ext cx="2571750" cy="5143500"/>
          </a:xfrm>
          <a:prstGeom prst="rect">
            <a:avLst/>
          </a:prstGeom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A10E1600-E374-0C0C-1421-101D311FB6BF}"/>
              </a:ext>
            </a:extLst>
          </p:cNvPr>
          <p:cNvSpPr txBox="1">
            <a:spLocks/>
          </p:cNvSpPr>
          <p:nvPr/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latin typeface="Playfair Display Medium"/>
              </a:rPr>
              <a:t>OpenApi</a:t>
            </a: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 : notre cas d'usage</a:t>
            </a:r>
            <a:endParaRPr lang="en-US" sz="2400">
              <a:latin typeface="Playfair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15441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4033-7022-9DC3-2CE5-12625476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45C8E55D-63A2-0CF4-6356-8523D266D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latin typeface="Playfair Display Medium"/>
              </a:rPr>
              <a:t>OpenApi</a:t>
            </a: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 : notre cas d'usage</a:t>
            </a:r>
            <a:endParaRPr lang="en-US" sz="2400">
              <a:latin typeface="Playfair Display Medium"/>
            </a:endParaRPr>
          </a:p>
        </p:txBody>
      </p:sp>
      <p:pic>
        <p:nvPicPr>
          <p:cNvPr id="2" name="Picture 1" descr="hello c4 Hello Architecture.drawio">
            <a:extLst>
              <a:ext uri="{FF2B5EF4-FFF2-40B4-BE49-F238E27FC236}">
                <a16:creationId xmlns:a16="http://schemas.microsoft.com/office/drawing/2014/main" id="{1FFC8C15-7E68-5F6C-818B-F91C6780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963" y="1135856"/>
            <a:ext cx="5331249" cy="3429000"/>
          </a:xfrm>
          <a:prstGeom prst="rect">
            <a:avLst/>
          </a:prstGeom>
        </p:spPr>
      </p:pic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CCE86557-1131-096C-3A0C-F0D3FD2C1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2D0046EF-6C4A-0ADD-0DA3-A0467B0847E7}"/>
              </a:ext>
            </a:extLst>
          </p:cNvPr>
          <p:cNvSpPr/>
          <p:nvPr/>
        </p:nvSpPr>
        <p:spPr>
          <a:xfrm>
            <a:off x="4131283" y="2155307"/>
            <a:ext cx="1779365" cy="2171365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5308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F290-C365-3AB2-B5DD-FFE06578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1A2CF26B-3BF5-FB9F-65AB-BC52AB839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b="0" strike="noStrike" spc="-1" err="1">
                <a:solidFill>
                  <a:srgbClr val="1E1E1E"/>
                </a:solidFill>
                <a:latin typeface="Playfair Display Medium"/>
                <a:ea typeface="Playfair Display Medium"/>
              </a:rPr>
              <a:t>OpenApi</a:t>
            </a: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</a:t>
            </a:r>
            <a:r>
              <a:rPr lang="fr" sz="24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: Designer</a:t>
            </a:r>
            <a:endParaRPr lang="fr" sz="2400" b="0" strike="noStrike" spc="-1">
              <a:solidFill>
                <a:srgbClr val="1E1E1E"/>
              </a:solidFill>
              <a:latin typeface="Playfair Display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988A85-17CD-3C29-B6E6-E30D28BBD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80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A02D9-CCC4-2601-5875-5EFAFC6EB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F5322478-F88A-8DEB-2FF7-D1705199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b="0" strike="noStrike" spc="-1" err="1">
                <a:solidFill>
                  <a:srgbClr val="1E1E1E"/>
                </a:solidFill>
                <a:latin typeface="Playfair Display Medium"/>
                <a:ea typeface="Playfair Display Medium"/>
              </a:rPr>
              <a:t>OpenApi</a:t>
            </a: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</a:t>
            </a:r>
            <a:r>
              <a:rPr lang="fr" sz="24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: Designer</a:t>
            </a:r>
            <a:endParaRPr lang="fr" sz="2400" b="0" strike="noStrike" spc="-1">
              <a:solidFill>
                <a:srgbClr val="1E1E1E"/>
              </a:solidFill>
              <a:latin typeface="Playfair Display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08B24F-11CF-AD06-2F1C-46BAED56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pic>
        <p:nvPicPr>
          <p:cNvPr id="4" name="Picture 3" descr="img space">
            <a:extLst>
              <a:ext uri="{FF2B5EF4-FFF2-40B4-BE49-F238E27FC236}">
                <a16:creationId xmlns:a16="http://schemas.microsoft.com/office/drawing/2014/main" id="{7273275E-54FF-1D08-7A80-AD79A7C99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08" y="4127046"/>
            <a:ext cx="695325" cy="1428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B1B19B-CD72-06B1-DA77-1426D99AE4F5}"/>
              </a:ext>
            </a:extLst>
          </p:cNvPr>
          <p:cNvSpPr txBox="1"/>
          <p:nvPr/>
        </p:nvSpPr>
        <p:spPr>
          <a:xfrm>
            <a:off x="4441371" y="465364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/>
              </a:rPr>
              <a:t>https://editor.swagger.io/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BF8AF9-E531-205C-3327-832E2E899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6679" y="1104467"/>
            <a:ext cx="6066065" cy="339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24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2ADE6-0601-3A5D-8109-BB79793B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ADF41B-73EA-7307-A883-51CCCC07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31F5AAE-5EDA-7C89-A73F-81FB58482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197" y="342900"/>
            <a:ext cx="2434329" cy="4269921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536D5987-3B08-8115-7D81-05E01907CBD5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Les routes </a:t>
            </a:r>
            <a:endParaRPr lang="fr-FR" sz="1200" spc="-1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Les verbes HTTP</a:t>
            </a:r>
            <a:endParaRPr lang="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Les paramètres &amp; réponses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Les contrôles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La sécurité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La documentation</a:t>
            </a:r>
            <a:endParaRPr lang="fr" sz="1200" spc="-1">
              <a:solidFill>
                <a:srgbClr val="1E1E1E"/>
              </a:solidFill>
              <a:latin typeface="Playfair Display Medium"/>
              <a:cs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8E9B3BE8-AD8E-BB26-7042-8C5237ACC14D}"/>
              </a:ext>
            </a:extLst>
          </p:cNvPr>
          <p:cNvSpPr txBox="1">
            <a:spLocks/>
          </p:cNvSpPr>
          <p:nvPr/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latin typeface="Playfair Display Medium"/>
                <a:ea typeface="Playfair Display Medium"/>
              </a:rPr>
              <a:t>OpenApi</a:t>
            </a:r>
            <a:r>
              <a:rPr lang="fr" sz="24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: Designer</a:t>
            </a:r>
            <a:endParaRPr lang="fr" sz="2400" spc="-1">
              <a:solidFill>
                <a:srgbClr val="1E1E1E"/>
              </a:solidFill>
              <a:latin typeface="Playfair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86138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ECBB-C54B-AF95-4680-0157E3CE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E1B08009-6CBB-54DF-88FE-EE7529FE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b="0" strike="noStrike" spc="-1" err="1">
                <a:solidFill>
                  <a:srgbClr val="1E1E1E"/>
                </a:solidFill>
                <a:latin typeface="Playfair Display Medium"/>
                <a:ea typeface="Playfair Display Medium"/>
              </a:rPr>
              <a:t>OpenApi</a:t>
            </a:r>
            <a:r>
              <a:rPr lang="fr" sz="2400" b="0" strike="noStrike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</a:t>
            </a:r>
            <a:r>
              <a:rPr lang="fr" sz="24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: </a:t>
            </a:r>
            <a:r>
              <a:rPr lang="fr" sz="2400" spc="-1" err="1">
                <a:solidFill>
                  <a:srgbClr val="1E1E1E"/>
                </a:solidFill>
                <a:latin typeface="Playfair Display Medium"/>
                <a:ea typeface="Playfair Display Medium"/>
              </a:rPr>
              <a:t>Tooling</a:t>
            </a:r>
            <a:endParaRPr lang="fr" sz="2400" b="0" strike="noStrike" spc="-1" err="1">
              <a:solidFill>
                <a:srgbClr val="1E1E1E"/>
              </a:solidFill>
              <a:latin typeface="Playfair Display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BA04C8-2DAF-50CE-A8DC-9098FB34E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F239BD-094C-22FA-2946-DEFF126679D9}"/>
              </a:ext>
            </a:extLst>
          </p:cNvPr>
          <p:cNvSpPr txBox="1"/>
          <p:nvPr/>
        </p:nvSpPr>
        <p:spPr>
          <a:xfrm>
            <a:off x="4441371" y="465364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https://openapi.tools/</a:t>
            </a:r>
          </a:p>
        </p:txBody>
      </p:sp>
      <p:pic>
        <p:nvPicPr>
          <p:cNvPr id="8" name="Picture 7" descr="openapi tools">
            <a:extLst>
              <a:ext uri="{FF2B5EF4-FFF2-40B4-BE49-F238E27FC236}">
                <a16:creationId xmlns:a16="http://schemas.microsoft.com/office/drawing/2014/main" id="{B487F9E4-117F-1DC8-9346-24A969548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379" y="1093307"/>
            <a:ext cx="6286500" cy="31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93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F37B-A92B-0E8A-3F55-23388431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0653F115-BC17-56AD-0854-07C92FDB8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Démo</a:t>
            </a:r>
            <a:endParaRPr lang="en-US"/>
          </a:p>
        </p:txBody>
      </p:sp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EEF143C2-5C56-2E28-3D18-F37A22F8F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75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A7A2-A198-6AB1-B490-CC457121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7105516E-E248-D2C3-C634-F0B3C2797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client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DC9136-8C99-F87B-A51E-446F4485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00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CFC33-AB76-C391-CB21-65476008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E5D031E0-8374-781F-AA6E-9DDD5603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client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F3C6F3-9875-5DEE-A2E0-C322957F0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pic>
        <p:nvPicPr>
          <p:cNvPr id="3" name="Picture 2" descr="c4 hello front.drawio">
            <a:extLst>
              <a:ext uri="{FF2B5EF4-FFF2-40B4-BE49-F238E27FC236}">
                <a16:creationId xmlns:a16="http://schemas.microsoft.com/office/drawing/2014/main" id="{81A03036-2F55-7D54-9D6F-A2DEA53DE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14" y="1447098"/>
            <a:ext cx="5845629" cy="3163704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5F1DA362-AB7A-3497-67C0-4933386F8FE6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200" b="1" spc="-1" err="1">
                <a:solidFill>
                  <a:srgbClr val="1E1E1E"/>
                </a:solidFill>
                <a:latin typeface="Playfair Display Medium"/>
              </a:rPr>
              <a:t>openapi-generator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</a:rPr>
              <a:t> </a:t>
            </a:r>
            <a:r>
              <a:rPr lang="fr" sz="1200" spc="-1">
                <a:solidFill>
                  <a:srgbClr val="1E1E1E"/>
                </a:solidFill>
                <a:latin typeface="Playfair Display Medium"/>
              </a:rPr>
              <a:t>: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</a:rPr>
              <a:t>DTOs</a:t>
            </a:r>
            <a:r>
              <a:rPr lang="fr" sz="1200" spc="-1">
                <a:solidFill>
                  <a:srgbClr val="1E1E1E"/>
                </a:solidFill>
                <a:latin typeface="Playfair Display Medium"/>
              </a:rPr>
              <a:t>, client HTTP, pour plusieurs langages</a:t>
            </a:r>
          </a:p>
        </p:txBody>
      </p:sp>
    </p:spTree>
    <p:extLst>
      <p:ext uri="{BB962C8B-B14F-4D97-AF65-F5344CB8AC3E}">
        <p14:creationId xmlns:p14="http://schemas.microsoft.com/office/powerpoint/2010/main" val="3558997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2792-44B3-4969-E5DC-91129C46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F688C217-A1F4-0C64-F42C-EABDE881B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client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A147BA-46B0-BC6E-48A6-A0D7AC42B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4C4446FA-DAA1-5716-0BFA-E71A0F1056AC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</a:rPr>
              <a:t>Il suffit alors d'intégrer l'appel dans son code</a:t>
            </a:r>
            <a:endParaRPr lang="en-US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CDE92F1-F818-7820-9CA5-BBD8D25DAEEA}"/>
              </a:ext>
            </a:extLst>
          </p:cNvPr>
          <p:cNvSpPr/>
          <p:nvPr/>
        </p:nvSpPr>
        <p:spPr>
          <a:xfrm>
            <a:off x="2871720" y="1485810"/>
            <a:ext cx="5250240" cy="313932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1440" tIns="45720" rIns="91440" bIns="45720" numCol="1" spcCol="0" anchor="t">
            <a:spAutoFit/>
          </a:bodyPr>
          <a:lstStyle/>
          <a:p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import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{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Component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signal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} </a:t>
            </a:r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'@angular/core'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fr-FR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import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{ 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RouterOutlet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} </a:t>
            </a:r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'@angular/router'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import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{ 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} </a:t>
            </a:r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'./hello-</a:t>
            </a:r>
            <a:r>
              <a:rPr lang="en-US" sz="11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api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/</a:t>
            </a:r>
            <a:r>
              <a:rPr lang="en-US" sz="11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api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/</a:t>
            </a:r>
            <a:r>
              <a:rPr lang="en-US" sz="11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hello.service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  <a:ea typeface="+mn-lt"/>
              <a:cs typeface="+mn-lt"/>
            </a:endParaRPr>
          </a:p>
          <a:p>
            <a:endParaRPr lang="en-US" sz="1100" spc="-1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@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Component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({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  selector: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'app-root'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  imports: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[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RouterOutlet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],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templateUrl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: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'./app.html'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styleUrl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: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'./app.css'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})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export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class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App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{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  title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'Appel de l</a:t>
            </a:r>
            <a:r>
              <a:rPr lang="en-US" sz="1100" spc="-1">
                <a:solidFill>
                  <a:srgbClr val="D7BA7D"/>
                </a:solidFill>
                <a:latin typeface="Consolas"/>
                <a:ea typeface="+mn-lt"/>
                <a:cs typeface="+mn-lt"/>
              </a:rPr>
              <a:t>\'</a:t>
            </a:r>
            <a:r>
              <a:rPr lang="en-US" sz="1100" spc="-1" err="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api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 hello'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constructor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private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: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 {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  </a:t>
            </a:r>
            <a:r>
              <a:rPr lang="en-US" sz="1100" spc="-1" err="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this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helloWorld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().</a:t>
            </a:r>
            <a:r>
              <a:rPr lang="en-US" sz="1100" spc="-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subscribe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helloDto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=&gt;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{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    </a:t>
            </a:r>
            <a:r>
              <a:rPr lang="en-US" sz="1100" spc="-1" err="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this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title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helloDto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message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!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});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}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}</a:t>
            </a:r>
            <a:endParaRPr lang="en-US">
              <a:latin typeface="Consolas"/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B0B84-7E11-3391-59CB-D9F61CD43EE0}"/>
              </a:ext>
            </a:extLst>
          </p:cNvPr>
          <p:cNvSpPr txBox="1"/>
          <p:nvPr/>
        </p:nvSpPr>
        <p:spPr>
          <a:xfrm>
            <a:off x="4122964" y="4634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http://localhost:4200/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11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CC0D9-B8BA-4D9A-6EF7-32F912CD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597709CA-9A6B-8647-C70E-CB047A67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Démo</a:t>
            </a:r>
            <a:endParaRPr lang="en-US"/>
          </a:p>
        </p:txBody>
      </p:sp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56917388-8A37-0063-5B59-779687AE9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42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D93F-0044-9938-528D-F672EBFE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0ADDC8AA-EAD7-75AD-71D4-AE0B1F3F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server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81575C-8E63-237E-46B0-60CF87C4E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68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A1934-6521-51F9-B388-114BB365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5993B2D3-BB85-7D73-99ED-70E52C60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server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15A42E-68FA-2F54-BD4C-9FAB0362A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pic>
        <p:nvPicPr>
          <p:cNvPr id="3" name="Picture 2" descr="c4 hello back api.drawio">
            <a:extLst>
              <a:ext uri="{FF2B5EF4-FFF2-40B4-BE49-F238E27FC236}">
                <a16:creationId xmlns:a16="http://schemas.microsoft.com/office/drawing/2014/main" id="{A5D86B8A-43E5-0395-BB21-CD6DE5E00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2" y="1425688"/>
            <a:ext cx="4796105" cy="3306537"/>
          </a:xfrm>
          <a:prstGeom prst="rect">
            <a:avLst/>
          </a:prstGeom>
        </p:spPr>
      </p:pic>
      <p:sp>
        <p:nvSpPr>
          <p:cNvPr id="7" name="PlaceHolder 2">
            <a:extLst>
              <a:ext uri="{FF2B5EF4-FFF2-40B4-BE49-F238E27FC236}">
                <a16:creationId xmlns:a16="http://schemas.microsoft.com/office/drawing/2014/main" id="{09D3046E-991B-94E9-D60F-BC39AF169457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1200" b="1" spc="-1" err="1">
                <a:solidFill>
                  <a:srgbClr val="1E1E1E"/>
                </a:solidFill>
                <a:latin typeface="Playfair Display Medium"/>
              </a:rPr>
              <a:t>openapi-generator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</a:rPr>
              <a:t> </a:t>
            </a:r>
            <a:r>
              <a:rPr lang="fr" sz="1200" spc="-1">
                <a:solidFill>
                  <a:srgbClr val="1E1E1E"/>
                </a:solidFill>
                <a:latin typeface="Playfair Display Medium"/>
              </a:rPr>
              <a:t>: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</a:rPr>
              <a:t>DTOs</a:t>
            </a:r>
            <a:r>
              <a:rPr lang="fr" sz="1200" spc="-1">
                <a:solidFill>
                  <a:srgbClr val="1E1E1E"/>
                </a:solidFill>
                <a:latin typeface="Playfair Display Medium"/>
              </a:rPr>
              <a:t>, exposition API, pour plusieurs langages</a:t>
            </a:r>
          </a:p>
        </p:txBody>
      </p:sp>
    </p:spTree>
    <p:extLst>
      <p:ext uri="{BB962C8B-B14F-4D97-AF65-F5344CB8AC3E}">
        <p14:creationId xmlns:p14="http://schemas.microsoft.com/office/powerpoint/2010/main" val="1371664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5D97-5A5B-0550-D1CA-55047187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4626E808-77C1-BB6E-FBD5-0AE0260C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server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CF53C2-66AF-AB05-907B-73AC0BE6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4D61692D-0ECE-BE14-7369-A0CC1B3461A4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Il suffit alors d'implémenter l'interface </a:t>
            </a:r>
            <a:r>
              <a:rPr lang="fr" sz="1200" b="1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delegate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 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générée</a:t>
            </a:r>
          </a:p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" sz="1200" spc="-1">
              <a:solidFill>
                <a:srgbClr val="1E1E1E"/>
              </a:solidFill>
              <a:latin typeface="Playfair Display Medium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D78DE38-BAF8-1A4C-AC20-B8FAAB69C35A}"/>
              </a:ext>
            </a:extLst>
          </p:cNvPr>
          <p:cNvSpPr/>
          <p:nvPr/>
        </p:nvSpPr>
        <p:spPr>
          <a:xfrm>
            <a:off x="2871720" y="1444989"/>
            <a:ext cx="5250240" cy="313932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1440" tIns="45720" rIns="91440" bIns="45720" numCol="1" spcCol="0" anchor="t">
            <a:spAutoFit/>
          </a:bodyPr>
          <a:lstStyle/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</a:rPr>
              <a:t>@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Component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public class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HelloApiDelegateImpl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implements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HelloApiDelegate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{
   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private final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
   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public 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HelloApiDelegateImpl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 {
        </a:t>
            </a:r>
            <a:r>
              <a:rPr lang="en-US" sz="1100" spc="-1" err="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this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
    }
    @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Override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public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ResponseEntity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&lt;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HelloDto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&gt; 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helloWorld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() {
       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HelloDto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result =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new 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HelloDto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();
        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result.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setMessage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helloService.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sayHello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"World"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));
       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return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ResponseEntity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ok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(result);
    }</a:t>
            </a: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...
}
</a:t>
            </a:r>
            <a:endParaRPr lang="en-US" sz="1100" spc="-1">
              <a:solidFill>
                <a:srgbClr val="CCCCCC"/>
              </a:solidFill>
              <a:latin typeface="Consolas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81B37-A147-7EDB-E135-99A98B4E0399}"/>
              </a:ext>
            </a:extLst>
          </p:cNvPr>
          <p:cNvSpPr txBox="1"/>
          <p:nvPr/>
        </p:nvSpPr>
        <p:spPr>
          <a:xfrm>
            <a:off x="2873829" y="4669972"/>
            <a:ext cx="47679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3"/>
              </a:rPr>
              <a:t>http://localhost:8080/swagger-ui/index.html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17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9D7F2-8864-0D85-A132-41583D6B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73FBFC31-98F5-A197-951A-6B036FEE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Démo</a:t>
            </a:r>
            <a:endParaRPr lang="en-US"/>
          </a:p>
        </p:txBody>
      </p:sp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037D0906-64F5-5E92-4A92-D0B7086E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46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CF8B-8660-209C-B877-794CDF2A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55786F16-6C10-2945-BB73-77ABC31D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latin typeface="Playfair Display Medium"/>
              </a:rPr>
              <a:t>AsyncApi</a:t>
            </a: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 : notre cas d'usage</a:t>
            </a:r>
            <a:endParaRPr lang="en-US"/>
          </a:p>
        </p:txBody>
      </p:sp>
      <p:pic>
        <p:nvPicPr>
          <p:cNvPr id="2" name="Picture 1" descr="hello c4 Hello Architecture.drawio">
            <a:extLst>
              <a:ext uri="{FF2B5EF4-FFF2-40B4-BE49-F238E27FC236}">
                <a16:creationId xmlns:a16="http://schemas.microsoft.com/office/drawing/2014/main" id="{35A266DA-792B-D97A-9CB9-12408C6A3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963" y="1135856"/>
            <a:ext cx="5331249" cy="3429000"/>
          </a:xfrm>
          <a:prstGeom prst="rect">
            <a:avLst/>
          </a:prstGeom>
        </p:spPr>
      </p:pic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C48FB92E-326C-5E9F-311A-F2EF140E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27E7B0C9-8234-4FA8-4F70-569194AF9D4F}"/>
              </a:ext>
            </a:extLst>
          </p:cNvPr>
          <p:cNvSpPr/>
          <p:nvPr/>
        </p:nvSpPr>
        <p:spPr>
          <a:xfrm>
            <a:off x="4681351" y="2876825"/>
            <a:ext cx="3643883" cy="1414128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2313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5C7C-7A01-A1D9-A722-4D77A74E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E425BD31-EF0D-29BB-62B1-0C1BF5A6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b="0" strike="noStrike" spc="-1" err="1">
                <a:solidFill>
                  <a:srgbClr val="1E1E1E"/>
                </a:solidFill>
                <a:latin typeface="Playfair Display Medium"/>
                <a:ea typeface="Playfair Display Medium"/>
              </a:rPr>
              <a:t>AsyncApi</a:t>
            </a:r>
            <a:r>
              <a:rPr lang="fr" sz="24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: Définir l'API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40F1E8-7E80-1FE1-3274-B8DA87545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17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EF47-3071-C899-2B65-C6A807EE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D43AB8E2-5792-54F3-4A8A-EF1A056B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b="0" strike="noStrike" spc="-1" err="1">
                <a:solidFill>
                  <a:srgbClr val="1E1E1E"/>
                </a:solidFill>
                <a:latin typeface="Playfair Display Medium"/>
                <a:ea typeface="Playfair Display Medium"/>
              </a:rPr>
              <a:t>AsyncApi</a:t>
            </a:r>
            <a:r>
              <a:rPr lang="fr" sz="2400" spc="-1">
                <a:solidFill>
                  <a:srgbClr val="1E1E1E"/>
                </a:solidFill>
                <a:latin typeface="Playfair Display Medium"/>
                <a:ea typeface="Playfair Display Medium"/>
              </a:rPr>
              <a:t> : Définir l'API</a:t>
            </a:r>
            <a:endParaRPr lang="fr-F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1FA15-CCB0-64D9-9ECE-A39B4D963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0811AC-BFC0-1839-D581-29B9391F4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693" y="1186586"/>
            <a:ext cx="6221186" cy="32030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7453B3-2585-E894-6392-B8BABC198A0F}"/>
              </a:ext>
            </a:extLst>
          </p:cNvPr>
          <p:cNvSpPr txBox="1"/>
          <p:nvPr/>
        </p:nvSpPr>
        <p:spPr>
          <a:xfrm>
            <a:off x="4188279" y="4588329"/>
            <a:ext cx="33147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/>
              </a:rPr>
              <a:t>https://studio.asyncapi.com/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72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B407D-FAA8-3B63-C8FD-25CC0EC9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030515FE-1603-D02B-F02D-9E43E8B1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ea typeface="+mj-lt"/>
                <a:cs typeface="+mj-lt"/>
              </a:rPr>
              <a:t>AsyncApi</a:t>
            </a:r>
            <a:r>
              <a:rPr lang="fr" sz="2400" b="0" strike="noStrike" spc="-1">
                <a:solidFill>
                  <a:srgbClr val="1E1E1E"/>
                </a:solidFill>
                <a:ea typeface="+mj-lt"/>
                <a:cs typeface="+mj-lt"/>
              </a:rPr>
              <a:t> </a:t>
            </a:r>
            <a:r>
              <a:rPr lang="fr" sz="2400" spc="-1">
                <a:solidFill>
                  <a:srgbClr val="1E1E1E"/>
                </a:solidFill>
                <a:ea typeface="+mj-lt"/>
                <a:cs typeface="+mj-lt"/>
              </a:rPr>
              <a:t>: Designer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C57392-6F97-6065-85FF-8E8F6068F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50EBF8C3-8535-941A-D83A-6E102ABDDE33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 serveur + sécurité</a:t>
            </a:r>
            <a:endParaRPr lang="fr-FR" sz="1200" spc="-1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 chanel</a:t>
            </a:r>
            <a:endParaRPr lang="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 message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Les opérations (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send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,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receive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)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La documentation</a:t>
            </a:r>
            <a:endParaRPr lang="fr"/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Screens screenshot of a computer screen&#10;&#10;AI-generated content may be incorrect.">
            <a:extLst>
              <a:ext uri="{FF2B5EF4-FFF2-40B4-BE49-F238E27FC236}">
                <a16:creationId xmlns:a16="http://schemas.microsoft.com/office/drawing/2014/main" id="{B1195526-806E-EE87-D0B8-4B66BC075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188" y="146957"/>
            <a:ext cx="1865053" cy="448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34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9D27-573D-6722-D88B-3FB7C1D6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CCE96C86-5126-144B-54A7-908E4A8D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ea typeface="+mj-lt"/>
                <a:cs typeface="+mj-lt"/>
              </a:rPr>
              <a:t>AsyncApi</a:t>
            </a:r>
            <a:r>
              <a:rPr lang="fr" sz="2400" b="0" strike="noStrike" spc="-1">
                <a:solidFill>
                  <a:srgbClr val="1E1E1E"/>
                </a:solidFill>
                <a:ea typeface="+mj-lt"/>
                <a:cs typeface="+mj-lt"/>
              </a:rPr>
              <a:t> </a:t>
            </a:r>
            <a:r>
              <a:rPr lang="fr" sz="2400" spc="-1">
                <a:solidFill>
                  <a:srgbClr val="1E1E1E"/>
                </a:solidFill>
                <a:ea typeface="+mj-lt"/>
                <a:cs typeface="+mj-lt"/>
              </a:rPr>
              <a:t>: Tools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C9B51-6B2C-8064-F836-8C82CA961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07608FE8-6E9A-A2AD-3F02-6AAFEC78A11E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HTML Template</a:t>
            </a:r>
            <a:endParaRPr lang="fr-FR" sz="1200" spc="-1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React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 Template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Spring Template</a:t>
            </a:r>
            <a:endParaRPr lang="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NodeJS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 Template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PHP Template</a:t>
            </a:r>
            <a:endParaRPr lang="fr-FR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Et divers autres… </a:t>
            </a:r>
            <a:endParaRPr lang="fr"/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75CA5-7057-F889-CE6B-99AC54B8D9B4}"/>
              </a:ext>
            </a:extLst>
          </p:cNvPr>
          <p:cNvSpPr txBox="1"/>
          <p:nvPr/>
        </p:nvSpPr>
        <p:spPr>
          <a:xfrm>
            <a:off x="4007644" y="4257675"/>
            <a:ext cx="36790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https://www.asyncapi.com/tools</a:t>
            </a:r>
            <a:r>
              <a:rPr lang="en-US"/>
              <a:t> </a:t>
            </a:r>
          </a:p>
        </p:txBody>
      </p:sp>
      <p:pic>
        <p:nvPicPr>
          <p:cNvPr id="5" name="Picture 4" descr="A screenshot of a chat box&#10;&#10;AI-generated content may be incorrect.">
            <a:extLst>
              <a:ext uri="{FF2B5EF4-FFF2-40B4-BE49-F238E27FC236}">
                <a16:creationId xmlns:a16="http://schemas.microsoft.com/office/drawing/2014/main" id="{C88DD7D6-02CC-ACE3-AE89-296915420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142" y="964407"/>
            <a:ext cx="3109255" cy="321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55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4E5C6-789D-B2B0-13D3-5A99D7CA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8F22C2E0-47DF-721A-8A0D-A07E7411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Démo</a:t>
            </a:r>
            <a:endParaRPr lang="en-US"/>
          </a:p>
        </p:txBody>
      </p:sp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579D4F8C-0940-8CA7-D228-3558F31D5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781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A5EB3-879C-6B0E-D34E-A52A799E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656B09C2-5FD4-9A65-1967-E058EC384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latin typeface="Playfair Display Medium"/>
              </a:rPr>
              <a:t>ZenWave</a:t>
            </a: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 SDK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5D950-2B1E-6666-00AF-73930504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323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DF97-EC9C-FA28-CECB-816AE3EB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63B7FF97-756B-3CCD-D20C-EF7E2155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 err="1">
                <a:solidFill>
                  <a:srgbClr val="1E1E1E"/>
                </a:solidFill>
                <a:latin typeface="Playfair Display Medium"/>
              </a:rPr>
              <a:t>ZenWave</a:t>
            </a: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 SDK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11295E-19F0-276F-BBDB-9AFCA186F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pic>
        <p:nvPicPr>
          <p:cNvPr id="3" name="Picture 2" descr="zenwave">
            <a:extLst>
              <a:ext uri="{FF2B5EF4-FFF2-40B4-BE49-F238E27FC236}">
                <a16:creationId xmlns:a16="http://schemas.microsoft.com/office/drawing/2014/main" id="{8393B0F3-D2CC-DCBD-898E-F49272B3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481" y="1531144"/>
            <a:ext cx="6279356" cy="2767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AB2742-22F3-B717-AD87-20EF5C29CDF7}"/>
              </a:ext>
            </a:extLst>
          </p:cNvPr>
          <p:cNvSpPr txBox="1"/>
          <p:nvPr/>
        </p:nvSpPr>
        <p:spPr>
          <a:xfrm>
            <a:off x="2995273" y="4588329"/>
            <a:ext cx="45077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4"/>
              </a:rPr>
              <a:t>https://www.zenwave360.io/zenwave-sdk/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E3427805-768C-319E-7D99-2FF89B6BB5C8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Accélérer le développement d'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API First</a:t>
            </a:r>
            <a:endParaRPr lang="en-US" b="1"/>
          </a:p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" sz="1200" spc="-1">
              <a:solidFill>
                <a:srgbClr val="1E1E1E"/>
              </a:solidFill>
              <a:latin typeface="Playfair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842413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3302-1065-B32D-D6DF-F7D2694C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B942F021-09E0-E978-8FD4-EBBE648D0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du Producer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61F7BA-BFCB-71AA-8F28-C68C7845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34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4BD6D-79A3-1FC5-0F1B-1D299DB6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8A705AD9-87AA-287A-254A-0E03B1FB3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du Producer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244B3F-BEB9-BD54-511A-BC87DED54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pic>
        <p:nvPicPr>
          <p:cNvPr id="3" name="Picture 2" descr="c4 hello back api kafka.drawio">
            <a:extLst>
              <a:ext uri="{FF2B5EF4-FFF2-40B4-BE49-F238E27FC236}">
                <a16:creationId xmlns:a16="http://schemas.microsoft.com/office/drawing/2014/main" id="{64B15F98-FD52-BC69-10C3-856DF55B8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144" y="998590"/>
            <a:ext cx="4822031" cy="373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7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925C5-4DA1-C212-4224-AAD81BAA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B39D19-50A7-67E8-F756-2F675F701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sp>
        <p:nvSpPr>
          <p:cNvPr id="8" name="PlaceHolder 2">
            <a:extLst>
              <a:ext uri="{FF2B5EF4-FFF2-40B4-BE49-F238E27FC236}">
                <a16:creationId xmlns:a16="http://schemas.microsoft.com/office/drawing/2014/main" id="{113F26B9-EDEC-8219-3ACE-E4A8AC125BC7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Le plugin Maven propose plusieurs générateurs dont : </a:t>
            </a:r>
            <a:endParaRPr lang="en-US" dirty="0"/>
          </a:p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jsonschema2pojo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 : pour générer les </a:t>
            </a:r>
            <a:r>
              <a:rPr lang="fr" sz="1200" spc="-1" dirty="0" err="1">
                <a:solidFill>
                  <a:srgbClr val="1E1E1E"/>
                </a:solidFill>
                <a:latin typeface="Playfair Display Medium"/>
                <a:cs typeface="Arial"/>
              </a:rPr>
              <a:t>DTOs</a:t>
            </a:r>
            <a:endParaRPr lang="fr" dirty="0" err="1">
              <a:solidFill>
                <a:srgbClr val="000000"/>
              </a:solidFill>
              <a:latin typeface="Arial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Définir 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Playfair Display Medium"/>
                <a:cs typeface="Arial"/>
              </a:rPr>
              <a:t>modelPackage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&gt;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 : 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package java pour le code</a:t>
            </a:r>
            <a:endParaRPr lang="fr" sz="1200" spc="-1" dirty="0">
              <a:solidFill>
                <a:srgbClr val="1E1E1E"/>
              </a:solidFill>
              <a:latin typeface="Playfair Display Medium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Définir 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isUseJakartaValidation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&gt;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 : pour java 17 /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spring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-boot 3</a:t>
            </a:r>
            <a:endParaRPr lang="fr" sz="1200" spc="-1" dirty="0">
              <a:solidFill>
                <a:srgbClr val="1E1E1E"/>
              </a:solidFill>
              <a:latin typeface="Playfair Display Medium"/>
              <a:cs typeface="Arial"/>
            </a:endParaRPr>
          </a:p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spring-cloud-streams3 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: pour générer le code basé sur </a:t>
            </a:r>
            <a:r>
              <a:rPr lang="fr" sz="1200" spc="-1" dirty="0" err="1">
                <a:solidFill>
                  <a:srgbClr val="1E1E1E"/>
                </a:solidFill>
                <a:latin typeface="Playfair Display Medium"/>
                <a:cs typeface="Arial"/>
              </a:rPr>
              <a:t>spring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-cloud-</a:t>
            </a:r>
            <a:r>
              <a:rPr lang="fr" sz="1200" spc="-1" dirty="0" err="1">
                <a:solidFill>
                  <a:srgbClr val="1E1E1E"/>
                </a:solidFill>
                <a:latin typeface="Playfair Display Medium"/>
                <a:cs typeface="Arial"/>
              </a:rPr>
              <a:t>streams</a:t>
            </a:r>
            <a:endParaRPr lang="fr" b="1" dirty="0" err="1"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Définir 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Playfair Display Medium"/>
                <a:cs typeface="Arial"/>
              </a:rPr>
              <a:t>apiPackage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&gt;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 : package java pour le code généré</a:t>
            </a:r>
            <a:endParaRPr lang="en-US" sz="1200" spc="-1" dirty="0">
              <a:solidFill>
                <a:srgbClr val="000000"/>
              </a:solidFill>
              <a:latin typeface="Playfair Display Medium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Définir 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Playfair Display Medium"/>
                <a:cs typeface="Arial"/>
              </a:rPr>
              <a:t>modelPackage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&gt;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 : package java pour le code</a:t>
            </a:r>
            <a:endParaRPr lang="fr" sz="1200" spc="-1" dirty="0">
              <a:solidFill>
                <a:srgbClr val="000000"/>
              </a:solidFill>
              <a:latin typeface="Playfair Display Medium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Définir 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&lt;</a:t>
            </a:r>
            <a:r>
              <a:rPr lang="fr" sz="1200" b="1" spc="-1" dirty="0" err="1">
                <a:solidFill>
                  <a:srgbClr val="1E1E1E"/>
                </a:solidFill>
                <a:latin typeface="Playfair Display Medium"/>
                <a:cs typeface="Arial"/>
              </a:rPr>
              <a:t>opérationIds</a:t>
            </a:r>
            <a:r>
              <a:rPr lang="fr" sz="1200" b="1" spc="-1" dirty="0">
                <a:solidFill>
                  <a:srgbClr val="1E1E1E"/>
                </a:solidFill>
                <a:latin typeface="Playfair Display Medium"/>
                <a:cs typeface="Arial"/>
              </a:rPr>
              <a:t>&gt;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 : les opérations à générer (</a:t>
            </a:r>
            <a:r>
              <a:rPr lang="fr" sz="1200" spc="-1" dirty="0" err="1">
                <a:solidFill>
                  <a:srgbClr val="1E1E1E"/>
                </a:solidFill>
                <a:latin typeface="Playfair Display Medium"/>
                <a:cs typeface="Arial"/>
              </a:rPr>
              <a:t>send</a:t>
            </a:r>
            <a:r>
              <a:rPr lang="fr" sz="1200" spc="-1" dirty="0">
                <a:solidFill>
                  <a:srgbClr val="1E1E1E"/>
                </a:solidFill>
                <a:latin typeface="Playfair Display Medium"/>
                <a:cs typeface="Arial"/>
              </a:rPr>
              <a:t>)</a:t>
            </a:r>
          </a:p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" sz="1200" spc="-1">
              <a:solidFill>
                <a:srgbClr val="1E1E1E"/>
              </a:solidFill>
              <a:latin typeface="Playfair Display Medium"/>
            </a:endParaRP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BAD655E-01CC-8926-6081-19445DD3F7A1}"/>
              </a:ext>
            </a:extLst>
          </p:cNvPr>
          <p:cNvSpPr txBox="1">
            <a:spLocks/>
          </p:cNvSpPr>
          <p:nvPr/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du Producer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463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5C06F-DFA2-4D5E-77D0-AE30467C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7C320A-FD62-0569-4FB4-E1D9433E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sp>
        <p:nvSpPr>
          <p:cNvPr id="8" name="PlaceHolder 2">
            <a:extLst>
              <a:ext uri="{FF2B5EF4-FFF2-40B4-BE49-F238E27FC236}">
                <a16:creationId xmlns:a16="http://schemas.microsoft.com/office/drawing/2014/main" id="{0D7B1CAD-360B-5C3B-E08D-B9D0B1FA9028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Il suffit alors d'implémenter le service</a:t>
            </a:r>
            <a:endParaRPr lang="en-US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A2B948C-9C76-CE06-BA50-EC3E66F32109}"/>
              </a:ext>
            </a:extLst>
          </p:cNvPr>
          <p:cNvSpPr/>
          <p:nvPr/>
        </p:nvSpPr>
        <p:spPr>
          <a:xfrm>
            <a:off x="2871720" y="1485810"/>
            <a:ext cx="5674782" cy="313932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lIns="91440" tIns="45720" rIns="91440" bIns="45720" numCol="1" spcCol="0" anchor="t">
            <a:spAutoFit/>
          </a:bodyPr>
          <a:lstStyle/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@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Service</a:t>
            </a:r>
            <a:endParaRPr lang="fr-FR">
              <a:latin typeface="Consolas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public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class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HelloServiceImpl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implements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{</a:t>
            </a:r>
            <a:endParaRPr lang="en-US">
              <a:latin typeface="Consolas"/>
            </a:endParaRPr>
          </a:p>
          <a:p>
            <a:endParaRPr lang="en-US" sz="1100" spc="-1">
              <a:solidFill>
                <a:srgbClr val="569CD6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private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final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DefaultServiceEventsProducer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4FC1FF"/>
                </a:solidFill>
                <a:latin typeface="Consolas"/>
                <a:ea typeface="+mn-lt"/>
                <a:cs typeface="+mn-lt"/>
              </a:rPr>
              <a:t>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</a:endParaRPr>
          </a:p>
          <a:p>
            <a:endParaRPr lang="en-US" sz="1100" spc="-1">
              <a:solidFill>
                <a:srgbClr val="569CD6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public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HelloServiceImpl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DefaultServiceEventsProducer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 {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  </a:t>
            </a:r>
            <a:r>
              <a:rPr lang="en-US" sz="1100" spc="-1" err="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this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4FC1FF"/>
                </a:solidFill>
                <a:latin typeface="Consolas"/>
                <a:ea typeface="+mn-lt"/>
                <a:cs typeface="+mn-lt"/>
              </a:rPr>
              <a:t>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}</a:t>
            </a:r>
            <a:endParaRPr lang="en-US">
              <a:latin typeface="Consolas"/>
            </a:endParaRPr>
          </a:p>
          <a:p>
            <a:endParaRPr lang="en-US" sz="1100" spc="-1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@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Override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public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String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sayHello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String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name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 {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   String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"Hello "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+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name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  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HelloMessagePayload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payload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new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HelloMessagePayload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();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    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payload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setMessage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);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4FC1FF"/>
                </a:solidFill>
                <a:latin typeface="Consolas"/>
                <a:ea typeface="+mn-lt"/>
                <a:cs typeface="+mn-lt"/>
              </a:rPr>
              <a:t>    </a:t>
            </a:r>
            <a:r>
              <a:rPr lang="en-US" sz="1100" spc="-1" err="1">
                <a:solidFill>
                  <a:srgbClr val="4FC1FF"/>
                </a:solidFill>
                <a:latin typeface="Consolas"/>
                <a:ea typeface="+mn-lt"/>
                <a:cs typeface="+mn-lt"/>
              </a:rPr>
              <a:t>service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sendHelloMessage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payload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);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    return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;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}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}</a:t>
            </a:r>
            <a:endParaRPr lang="en-US">
              <a:latin typeface="Consolas"/>
              <a:ea typeface="+mn-lt"/>
              <a:cs typeface="+mn-lt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7C899AA9-A9E0-750C-D279-DC36647023FE}"/>
              </a:ext>
            </a:extLst>
          </p:cNvPr>
          <p:cNvSpPr txBox="1"/>
          <p:nvPr/>
        </p:nvSpPr>
        <p:spPr>
          <a:xfrm>
            <a:off x="3075730" y="4655188"/>
            <a:ext cx="476794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  <a:hlinkClick r:id="rId3"/>
              </a:rPr>
              <a:t>http://localhost:8080/swagger-ui/index.html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52DF802D-4604-5C93-E344-E0F14F8D83A9}"/>
              </a:ext>
            </a:extLst>
          </p:cNvPr>
          <p:cNvSpPr txBox="1">
            <a:spLocks/>
          </p:cNvSpPr>
          <p:nvPr/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du Producer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793E-7FED-E7DF-5191-D7880F1F3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D53B8423-1C4A-3950-C303-00E0A133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Démo</a:t>
            </a:r>
            <a:endParaRPr lang="en-US"/>
          </a:p>
        </p:txBody>
      </p:sp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8363F859-F461-932C-0EBF-D1014EDF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481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0946-5F84-879C-D2E2-7D0C106A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5B370286-5924-EA7F-2BCD-2650F7B8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consumer</a:t>
            </a:r>
            <a:endParaRPr lang="en-US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16A0B9-027D-9DDE-72C2-6082C5D28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029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0D1F-2D6B-CCEE-4B38-E16011FC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6E3599CE-3B3A-B12D-C373-C98D6D6B4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consumer</a:t>
            </a:r>
            <a:endParaRPr lang="en-US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C1A398-C943-99A4-3255-2FBC7D55D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pic>
        <p:nvPicPr>
          <p:cNvPr id="3" name="Picture 2" descr="c4 hello console.drawio">
            <a:extLst>
              <a:ext uri="{FF2B5EF4-FFF2-40B4-BE49-F238E27FC236}">
                <a16:creationId xmlns:a16="http://schemas.microsoft.com/office/drawing/2014/main" id="{C08063A2-A552-4A56-982C-3537F131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734" y="1036864"/>
            <a:ext cx="6223104" cy="355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46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284F-68AB-BD0E-5DFD-30FFE294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170197-9128-BE79-4BEA-863371953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sp>
        <p:nvSpPr>
          <p:cNvPr id="8" name="PlaceHolder 2">
            <a:extLst>
              <a:ext uri="{FF2B5EF4-FFF2-40B4-BE49-F238E27FC236}">
                <a16:creationId xmlns:a16="http://schemas.microsoft.com/office/drawing/2014/main" id="{D0FC6E1F-8427-431C-61E0-861CA2EAF80E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Le plugin Maven propose plusieurs générateurs dont : </a:t>
            </a:r>
            <a:endParaRPr lang="en-US"/>
          </a:p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b="1" spc="-1">
                <a:solidFill>
                  <a:srgbClr val="1E1E1E"/>
                </a:solidFill>
                <a:latin typeface="Playfair Display Medium"/>
                <a:cs typeface="Arial"/>
              </a:rPr>
              <a:t>jsonschema2pojo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 : pour générer les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cs typeface="Arial"/>
              </a:rPr>
              <a:t>DTOs</a:t>
            </a:r>
            <a:endParaRPr lang="fr" err="1">
              <a:solidFill>
                <a:srgbClr val="000000"/>
              </a:solidFill>
              <a:latin typeface="Arial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Définir 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Playfair Display Medium"/>
                <a:cs typeface="Arial"/>
              </a:rPr>
              <a:t>modelPackage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  <a:cs typeface="Arial"/>
              </a:rPr>
              <a:t>&gt;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 : </a:t>
            </a:r>
            <a:r>
              <a:rPr lang="fr" sz="1200" spc="-1">
                <a:solidFill>
                  <a:srgbClr val="1E1E1E"/>
                </a:solidFill>
                <a:ea typeface="+mn-lt"/>
                <a:cs typeface="+mn-lt"/>
              </a:rPr>
              <a:t>package java pour le code</a:t>
            </a:r>
            <a:endParaRPr lang="fr" sz="1200" spc="-1">
              <a:solidFill>
                <a:srgbClr val="1E1E1E"/>
              </a:solidFill>
              <a:latin typeface="Playfair Display Medium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Arial"/>
                <a:cs typeface="Arial"/>
              </a:rPr>
              <a:t>Définir </a:t>
            </a:r>
            <a:r>
              <a:rPr lang="fr" sz="1200" b="1" spc="-1">
                <a:solidFill>
                  <a:srgbClr val="1E1E1E"/>
                </a:solidFill>
                <a:latin typeface="Arial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ea typeface="+mn-lt"/>
                <a:cs typeface="+mn-lt"/>
              </a:rPr>
              <a:t>isUseJakartaValidation</a:t>
            </a:r>
            <a:r>
              <a:rPr lang="fr" sz="1200" b="1" spc="-1">
                <a:solidFill>
                  <a:srgbClr val="1E1E1E"/>
                </a:solidFill>
                <a:ea typeface="+mn-lt"/>
                <a:cs typeface="+mn-lt"/>
              </a:rPr>
              <a:t>&gt;</a:t>
            </a:r>
            <a:r>
              <a:rPr lang="fr" sz="1200" spc="-1">
                <a:solidFill>
                  <a:srgbClr val="1E1E1E"/>
                </a:solidFill>
                <a:ea typeface="+mn-lt"/>
                <a:cs typeface="+mn-lt"/>
              </a:rPr>
              <a:t> : pour java 17 / </a:t>
            </a:r>
            <a:r>
              <a:rPr lang="fr" sz="1200" spc="-1" err="1">
                <a:solidFill>
                  <a:srgbClr val="1E1E1E"/>
                </a:solidFill>
                <a:ea typeface="+mn-lt"/>
                <a:cs typeface="+mn-lt"/>
              </a:rPr>
              <a:t>spring</a:t>
            </a:r>
            <a:r>
              <a:rPr lang="fr" sz="1200" spc="-1">
                <a:solidFill>
                  <a:srgbClr val="1E1E1E"/>
                </a:solidFill>
                <a:ea typeface="+mn-lt"/>
                <a:cs typeface="+mn-lt"/>
              </a:rPr>
              <a:t>-boot 3</a:t>
            </a:r>
            <a:endParaRPr lang="fr" sz="1200" spc="-1">
              <a:solidFill>
                <a:srgbClr val="1E1E1E"/>
              </a:solidFill>
              <a:latin typeface="Arial"/>
              <a:cs typeface="Arial"/>
            </a:endParaRPr>
          </a:p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b="1" spc="-1">
                <a:solidFill>
                  <a:srgbClr val="1E1E1E"/>
                </a:solidFill>
                <a:latin typeface="Playfair Display Medium"/>
                <a:cs typeface="Arial"/>
              </a:rPr>
              <a:t>spring-cloud-streams3 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: pour générer le code basé sur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cs typeface="Arial"/>
              </a:rPr>
              <a:t>spring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-cloud-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cs typeface="Arial"/>
              </a:rPr>
              <a:t>streams</a:t>
            </a:r>
            <a:endParaRPr lang="fr" b="1" err="1"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Arial"/>
                <a:cs typeface="Arial"/>
              </a:rPr>
              <a:t>Définir </a:t>
            </a:r>
            <a:r>
              <a:rPr lang="fr" sz="1200" b="1" spc="-1">
                <a:solidFill>
                  <a:srgbClr val="1E1E1E"/>
                </a:solidFill>
                <a:latin typeface="Arial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Arial"/>
                <a:cs typeface="Arial"/>
              </a:rPr>
              <a:t>apiPackage</a:t>
            </a:r>
            <a:r>
              <a:rPr lang="fr" sz="1200" b="1" spc="-1">
                <a:solidFill>
                  <a:srgbClr val="1E1E1E"/>
                </a:solidFill>
                <a:latin typeface="Arial"/>
                <a:cs typeface="Arial"/>
              </a:rPr>
              <a:t>&gt;</a:t>
            </a:r>
            <a:r>
              <a:rPr lang="fr" sz="1200" spc="-1">
                <a:solidFill>
                  <a:srgbClr val="1E1E1E"/>
                </a:solidFill>
                <a:latin typeface="Arial"/>
                <a:cs typeface="Arial"/>
              </a:rPr>
              <a:t> : package java pour le code généré</a:t>
            </a:r>
            <a:endParaRPr lang="en-US" sz="12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Arial"/>
                <a:cs typeface="Arial"/>
              </a:rPr>
              <a:t>Définir </a:t>
            </a:r>
            <a:r>
              <a:rPr lang="fr" sz="1200" b="1" spc="-1">
                <a:solidFill>
                  <a:srgbClr val="1E1E1E"/>
                </a:solidFill>
                <a:latin typeface="Arial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Arial"/>
                <a:cs typeface="Arial"/>
              </a:rPr>
              <a:t>modelPackage</a:t>
            </a:r>
            <a:r>
              <a:rPr lang="fr" sz="1200" b="1" spc="-1">
                <a:solidFill>
                  <a:srgbClr val="1E1E1E"/>
                </a:solidFill>
                <a:latin typeface="Arial"/>
                <a:cs typeface="Arial"/>
              </a:rPr>
              <a:t>&gt;</a:t>
            </a:r>
            <a:r>
              <a:rPr lang="fr" sz="1200" spc="-1">
                <a:solidFill>
                  <a:srgbClr val="1E1E1E"/>
                </a:solidFill>
                <a:latin typeface="Arial"/>
                <a:cs typeface="Arial"/>
              </a:rPr>
              <a:t> : package java pour le code</a:t>
            </a:r>
            <a:endParaRPr lang="fr" sz="12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400050" indent="-171450">
              <a:lnSpc>
                <a:spcPct val="113999"/>
              </a:lnSpc>
              <a:buFont typeface="Calibri" panose="020B0604020202020204" pitchFamily="34" charset="0"/>
              <a:buChar char="-"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Définir 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  <a:cs typeface="Arial"/>
              </a:rPr>
              <a:t>&lt;</a:t>
            </a:r>
            <a:r>
              <a:rPr lang="fr" sz="1200" b="1" spc="-1" err="1">
                <a:solidFill>
                  <a:srgbClr val="1E1E1E"/>
                </a:solidFill>
                <a:latin typeface="Playfair Display Medium"/>
                <a:cs typeface="Arial"/>
              </a:rPr>
              <a:t>opérationIds</a:t>
            </a:r>
            <a:r>
              <a:rPr lang="fr" sz="1200" b="1" spc="-1">
                <a:solidFill>
                  <a:srgbClr val="1E1E1E"/>
                </a:solidFill>
                <a:latin typeface="Playfair Display Medium"/>
                <a:cs typeface="Arial"/>
              </a:rPr>
              <a:t>&gt;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 : les opérations à générer (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cs typeface="Arial"/>
              </a:rPr>
              <a:t>receive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)</a:t>
            </a:r>
          </a:p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" sz="1200" spc="-1">
              <a:solidFill>
                <a:srgbClr val="1E1E1E"/>
              </a:solidFill>
              <a:latin typeface="Playfair Display Medium"/>
            </a:endParaRP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AE27FBAB-83E4-8ED8-516D-50BA3FABF4FA}"/>
              </a:ext>
            </a:extLst>
          </p:cNvPr>
          <p:cNvSpPr txBox="1">
            <a:spLocks/>
          </p:cNvSpPr>
          <p:nvPr/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consumer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691929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9F49D-E437-B297-6791-1533984B2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A18E53-42E0-6B89-7B12-4E211094A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sp>
        <p:nvSpPr>
          <p:cNvPr id="8" name="PlaceHolder 2">
            <a:extLst>
              <a:ext uri="{FF2B5EF4-FFF2-40B4-BE49-F238E27FC236}">
                <a16:creationId xmlns:a16="http://schemas.microsoft.com/office/drawing/2014/main" id="{B09555E8-E12C-9895-B3A8-55FB3D5586BD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buNone/>
              <a:tabLst>
                <a:tab pos="0" algn="l"/>
              </a:tabLst>
            </a:pPr>
            <a:r>
              <a:rPr lang="fr" sz="1200" spc="-1">
                <a:solidFill>
                  <a:srgbClr val="1E1E1E"/>
                </a:solidFill>
                <a:latin typeface="Playfair Display Medium"/>
                <a:cs typeface="Arial"/>
              </a:rPr>
              <a:t>Il suffit alors d'implémenter le service</a:t>
            </a:r>
            <a:endParaRPr lang="en-US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81CD60FD-508E-80F5-5F77-018791163B3E}"/>
              </a:ext>
            </a:extLst>
          </p:cNvPr>
          <p:cNvSpPr/>
          <p:nvPr/>
        </p:nvSpPr>
        <p:spPr>
          <a:xfrm>
            <a:off x="2871720" y="1485810"/>
            <a:ext cx="5674782" cy="19543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lIns="91440" tIns="45720" rIns="91440" bIns="45720" numCol="1" spcCol="0" anchor="t">
            <a:spAutoFit/>
          </a:bodyPr>
          <a:lstStyle/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@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Component</a:t>
            </a:r>
            <a:endParaRPr lang="fr-FR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public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class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implements    </a:t>
            </a:r>
            <a:endParaRPr lang="en-US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                        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IReceiveHelloMessageConsumerService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{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@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Override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  public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void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receiveHelloMessage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endParaRPr lang="en-US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                   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HelloMessagePayload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payload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en-US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                   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HelloMessagePayloadHeaders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100" spc="-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headers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 {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    </a:t>
            </a:r>
            <a:r>
              <a:rPr lang="en-US" sz="1100" spc="-1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System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4FC1FF"/>
                </a:solidFill>
                <a:latin typeface="Consolas"/>
                <a:ea typeface="+mn-lt"/>
                <a:cs typeface="+mn-lt"/>
              </a:rPr>
              <a:t>out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println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100" spc="-1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payload</a:t>
            </a:r>
            <a:r>
              <a:rPr lang="en-US" sz="1100" spc="-1" err="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en-US" sz="1100" spc="-1" err="1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getMessage</a:t>
            </a:r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());</a:t>
            </a:r>
            <a:endParaRPr lang="en-US">
              <a:latin typeface="Consolas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 }</a:t>
            </a:r>
            <a:endParaRPr lang="en-US">
              <a:latin typeface="Consolas"/>
              <a:ea typeface="+mn-lt"/>
              <a:cs typeface="+mn-lt"/>
            </a:endParaRPr>
          </a:p>
          <a:p>
            <a:endParaRPr lang="en-US" sz="1100" spc="-1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r>
              <a:rPr lang="en-US" sz="1100" spc="-1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}</a:t>
            </a:r>
            <a:endParaRPr lang="en-US">
              <a:latin typeface="Consolas"/>
              <a:ea typeface="+mn-lt"/>
              <a:cs typeface="+mn-lt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F1BD686B-4A9B-D077-BA79-C17FBB2DF39C}"/>
              </a:ext>
            </a:extLst>
          </p:cNvPr>
          <p:cNvSpPr txBox="1">
            <a:spLocks/>
          </p:cNvSpPr>
          <p:nvPr/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Génération consumer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4495934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55A0-29C6-D9BB-81B9-0EF9E673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C111C149-7CE5-EB06-54F1-34DA0F022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Démo</a:t>
            </a:r>
            <a:endParaRPr lang="en-US"/>
          </a:p>
        </p:txBody>
      </p:sp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5C1A50E8-4107-D98A-FFCC-5744111CF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35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10F0-047C-B946-A46B-ED34E3DC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4FA199C1-CF79-9A4B-C393-F3715A47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Notre cas d'usage</a:t>
            </a:r>
            <a:endParaRPr lang="en-US"/>
          </a:p>
        </p:txBody>
      </p:sp>
      <p:pic>
        <p:nvPicPr>
          <p:cNvPr id="2" name="Picture 1" descr="hello c4 Hello Architecture.drawio">
            <a:extLst>
              <a:ext uri="{FF2B5EF4-FFF2-40B4-BE49-F238E27FC236}">
                <a16:creationId xmlns:a16="http://schemas.microsoft.com/office/drawing/2014/main" id="{4C556291-1369-C5D2-81CA-5FB5ED694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963" y="1135856"/>
            <a:ext cx="5331249" cy="3429000"/>
          </a:xfrm>
          <a:prstGeom prst="rect">
            <a:avLst/>
          </a:prstGeom>
        </p:spPr>
      </p:pic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6278D28E-D726-CC71-69A6-88B23F819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8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852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2652-941B-BA90-B819-83669866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B4CFBA2B-7F1F-80E9-6F78-B43B6BED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Pour conclure</a:t>
            </a:r>
            <a:endParaRPr lang="en-US"/>
          </a:p>
        </p:txBody>
      </p:sp>
      <p:pic>
        <p:nvPicPr>
          <p:cNvPr id="3" name="Picture 2" descr="A hand holding a glass ball with a sunset in the background&#10;&#10;AI-generated content may be incorrect.">
            <a:extLst>
              <a:ext uri="{FF2B5EF4-FFF2-40B4-BE49-F238E27FC236}">
                <a16:creationId xmlns:a16="http://schemas.microsoft.com/office/drawing/2014/main" id="{AC9A0A3C-C840-B903-72CE-ED2E88D74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640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B4BA-F29A-2752-BDE3-313947F4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38A2F532-AD7D-536A-768A-C9BDFFB6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Pour conclure</a:t>
            </a:r>
            <a:endParaRPr lang="en-US"/>
          </a:p>
        </p:txBody>
      </p:sp>
      <p:pic>
        <p:nvPicPr>
          <p:cNvPr id="3" name="Picture 2" descr="A hand holding a glass ball with a sunset in the background&#10;&#10;AI-generated content may be incorrect.">
            <a:extLst>
              <a:ext uri="{FF2B5EF4-FFF2-40B4-BE49-F238E27FC236}">
                <a16:creationId xmlns:a16="http://schemas.microsoft.com/office/drawing/2014/main" id="{0F8ECC3E-FD24-3B2C-BA91-880357F32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EAF629C4-EF0A-1D3A-6959-A4DA96EA1D42}"/>
              </a:ext>
            </a:extLst>
          </p:cNvPr>
          <p:cNvSpPr txBox="1">
            <a:spLocks/>
          </p:cNvSpPr>
          <p:nvPr/>
        </p:nvSpPr>
        <p:spPr>
          <a:xfrm>
            <a:off x="2792880" y="1078290"/>
            <a:ext cx="627660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OpenApi</a:t>
            </a: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 &amp; </a:t>
            </a:r>
            <a:r>
              <a:rPr lang="fr" sz="1200" spc="-1" err="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AsyncApi</a:t>
            </a:r>
            <a:endParaRPr lang="fr-FR" sz="1200" spc="-1" err="1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Spécifications + Outillage</a:t>
            </a:r>
            <a:endParaRPr lang="fr-FR" sz="1200"/>
          </a:p>
          <a:p>
            <a:pPr marL="170815" indent="-170815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Playfair Display Medium"/>
              <a:buChar char="●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Doit permettre :</a:t>
            </a:r>
            <a:endParaRPr lang="fr" sz="1200"/>
          </a:p>
          <a:p>
            <a:pPr marL="628015" lvl="1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Courier New"/>
              <a:buChar char="o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Implémenter plus efficacement vos apis</a:t>
            </a:r>
            <a:endParaRPr lang="fr-FR" sz="1200">
              <a:cs typeface="Arial"/>
            </a:endParaRPr>
          </a:p>
          <a:p>
            <a:pPr marL="628015" lvl="1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Courier New"/>
              <a:buChar char="o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Intégrer plus facilement les appels à vos apis</a:t>
            </a:r>
            <a:endParaRPr lang="fr-FR" sz="1200">
              <a:cs typeface="Arial"/>
            </a:endParaRPr>
          </a:p>
          <a:p>
            <a:pPr marL="628015" lvl="1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Courier New"/>
              <a:buChar char="o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Possibilité de simuler vos apis</a:t>
            </a:r>
            <a:endParaRPr lang="fr-FR" sz="1200">
              <a:cs typeface="Arial"/>
            </a:endParaRPr>
          </a:p>
          <a:p>
            <a:pPr marL="628015" lvl="1">
              <a:lnSpc>
                <a:spcPct val="113999"/>
              </a:lnSpc>
              <a:spcAft>
                <a:spcPts val="1599"/>
              </a:spcAft>
              <a:buClr>
                <a:srgbClr val="1E1E1E"/>
              </a:buClr>
              <a:buFont typeface="Courier New"/>
              <a:buChar char="o"/>
            </a:pPr>
            <a:r>
              <a:rPr lang="fr" sz="1200" spc="-1">
                <a:solidFill>
                  <a:srgbClr val="1E1E1E"/>
                </a:solidFill>
                <a:latin typeface="Playfair Display Medium"/>
                <a:ea typeface="+mn-lt"/>
                <a:cs typeface="+mn-lt"/>
              </a:rPr>
              <a:t>Documentation en adéquation avec l’implémentation réelle</a:t>
            </a:r>
            <a:endParaRPr lang="fr" sz="1200">
              <a:cs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  <a:cs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Aft>
                <a:spcPts val="1599"/>
              </a:spcAft>
              <a:buFont typeface="Arial" panose="020B0604020202020204" pitchFamily="34" charset="0"/>
              <a:buNone/>
              <a:tabLst>
                <a:tab pos="0" algn="l"/>
              </a:tabLst>
            </a:pPr>
            <a:endParaRPr lang="fr-FR" sz="120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48BD3A10-A803-C1D6-72F7-CB465156F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886" y="1079046"/>
            <a:ext cx="2876550" cy="144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73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F245F-89C6-F361-B222-65380A57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>
            <a:extLst>
              <a:ext uri="{FF2B5EF4-FFF2-40B4-BE49-F238E27FC236}">
                <a16:creationId xmlns:a16="http://schemas.microsoft.com/office/drawing/2014/main" id="{BB777086-609A-39DA-72F2-58607DAB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400" y="203130"/>
            <a:ext cx="628380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" sz="2400" spc="-1">
                <a:solidFill>
                  <a:srgbClr val="1E1E1E"/>
                </a:solidFill>
                <a:latin typeface="Playfair Display Medium"/>
              </a:rPr>
              <a:t>Merci</a:t>
            </a:r>
            <a:endParaRPr lang="en-US"/>
          </a:p>
        </p:txBody>
      </p:sp>
      <p:pic>
        <p:nvPicPr>
          <p:cNvPr id="2" name="Picture 1" descr="A hand holding a black card&#10;&#10;AI-generated content may be incorrect.">
            <a:extLst>
              <a:ext uri="{FF2B5EF4-FFF2-40B4-BE49-F238E27FC236}">
                <a16:creationId xmlns:a16="http://schemas.microsoft.com/office/drawing/2014/main" id="{4C41A4B5-2E43-99D5-CABD-39A73045A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1750" cy="5143500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1BE2FA-7466-D793-410F-3B949538B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232" y="1693069"/>
            <a:ext cx="2093119" cy="2093119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B60E58F1-1408-2CFD-9164-D5DDED428067}"/>
              </a:ext>
            </a:extLst>
          </p:cNvPr>
          <p:cNvSpPr txBox="1">
            <a:spLocks/>
          </p:cNvSpPr>
          <p:nvPr/>
        </p:nvSpPr>
        <p:spPr>
          <a:xfrm>
            <a:off x="6057573" y="1078290"/>
            <a:ext cx="3011907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2000" spc="-1">
                <a:solidFill>
                  <a:srgbClr val="1E1E1E"/>
                </a:solidFill>
                <a:latin typeface="Playfair Display Medium"/>
              </a:rPr>
              <a:t>Vos Feedbacks </a:t>
            </a:r>
            <a:endParaRPr lang="en-US" sz="2000">
              <a:cs typeface="Arial"/>
            </a:endParaRPr>
          </a:p>
        </p:txBody>
      </p:sp>
      <p:pic>
        <p:nvPicPr>
          <p:cNvPr id="7" name="Picture 6" descr="A sticker of a panda waving&#10;&#10;AI-generated content may be incorrect.">
            <a:extLst>
              <a:ext uri="{FF2B5EF4-FFF2-40B4-BE49-F238E27FC236}">
                <a16:creationId xmlns:a16="http://schemas.microsoft.com/office/drawing/2014/main" id="{5F5D7657-C7F2-EDC2-6E54-8695AAF9C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581" y="985838"/>
            <a:ext cx="5715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BF5134-CDF9-AD5B-50E0-22D98A3DE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058" y="2059517"/>
            <a:ext cx="1357842" cy="1357842"/>
          </a:xfrm>
          <a:prstGeom prst="rect">
            <a:avLst/>
          </a:prstGeom>
        </p:spPr>
      </p:pic>
      <p:sp>
        <p:nvSpPr>
          <p:cNvPr id="8" name="PlaceHolder 2">
            <a:extLst>
              <a:ext uri="{FF2B5EF4-FFF2-40B4-BE49-F238E27FC236}">
                <a16:creationId xmlns:a16="http://schemas.microsoft.com/office/drawing/2014/main" id="{43FD8D49-1713-E4C5-69C1-12EDFD4D92E4}"/>
              </a:ext>
            </a:extLst>
          </p:cNvPr>
          <p:cNvSpPr txBox="1">
            <a:spLocks/>
          </p:cNvSpPr>
          <p:nvPr/>
        </p:nvSpPr>
        <p:spPr>
          <a:xfrm>
            <a:off x="2988405" y="1506915"/>
            <a:ext cx="3011907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999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fr" sz="2000" spc="-1">
                <a:solidFill>
                  <a:srgbClr val="1E1E1E"/>
                </a:solidFill>
                <a:latin typeface="Playfair Display Medium"/>
              </a:rPr>
              <a:t>La présentation</a:t>
            </a:r>
            <a:endParaRPr lang="en-US" err="1"/>
          </a:p>
        </p:txBody>
      </p:sp>
      <p:pic>
        <p:nvPicPr>
          <p:cNvPr id="10" name="Picture 4" descr="A black cat in a circle&#10;&#10;AI-generated content may be incorrect.">
            <a:extLst>
              <a:ext uri="{FF2B5EF4-FFF2-40B4-BE49-F238E27FC236}">
                <a16:creationId xmlns:a16="http://schemas.microsoft.com/office/drawing/2014/main" id="{59AE97C2-4D4E-AAD0-68C0-0135DAA4DAE2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5156589" y="1587917"/>
            <a:ext cx="399600" cy="3924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714192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DDE1B-6B01-53A9-C946-D536A4FA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2">
            <a:extLst>
              <a:ext uri="{FF2B5EF4-FFF2-40B4-BE49-F238E27FC236}">
                <a16:creationId xmlns:a16="http://schemas.microsoft.com/office/drawing/2014/main" id="{FEEAD61A-A358-B00C-435B-4A85FAE9F31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2760" y="2325600"/>
            <a:ext cx="480600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" sz="2800" b="1" strike="noStrike" spc="-1">
                <a:solidFill>
                  <a:srgbClr val="1E1E1E"/>
                </a:solidFill>
                <a:latin typeface="Playfair Display"/>
                <a:ea typeface="Playfair Display"/>
              </a:rPr>
              <a:t>Philippe Bousquet</a:t>
            </a:r>
            <a:endParaRPr lang="fr-F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icture 1">
            <a:extLst>
              <a:ext uri="{FF2B5EF4-FFF2-40B4-BE49-F238E27FC236}">
                <a16:creationId xmlns:a16="http://schemas.microsoft.com/office/drawing/2014/main" id="{BAE9FE9B-C2B8-2AF9-7631-AA5FEF3EB13E}"/>
              </a:ext>
            </a:extLst>
          </p:cNvPr>
          <p:cNvSpPr/>
          <p:nvPr/>
        </p:nvSpPr>
        <p:spPr>
          <a:xfrm>
            <a:off x="2053080" y="2316600"/>
            <a:ext cx="918360" cy="92628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63500">
            <a:noFill/>
          </a:ln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F1FF2D0D-0041-DC5A-3107-1BF0ACE14956}"/>
              </a:ext>
            </a:extLst>
          </p:cNvPr>
          <p:cNvSpPr txBox="1">
            <a:spLocks/>
          </p:cNvSpPr>
          <p:nvPr/>
        </p:nvSpPr>
        <p:spPr>
          <a:xfrm>
            <a:off x="1333800" y="431280"/>
            <a:ext cx="6476040" cy="217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fr" sz="5100" b="1" spc="-1">
                <a:solidFill>
                  <a:srgbClr val="1E1E1E"/>
                </a:solidFill>
                <a:latin typeface="Playfair Display"/>
                <a:ea typeface="Playfair Display"/>
              </a:rPr>
              <a:t>Thank you</a:t>
            </a:r>
            <a:endParaRPr lang="fr-FR" sz="5100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65858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Resources bas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Affichage à l'écran (16:9)</PresentationFormat>
  <Slides>57</Slides>
  <Notes>0</Notes>
  <HiddenSlides>3</HiddenSlides>
  <ScaleCrop>false</ScaleCrop>
  <HeadingPairs>
    <vt:vector size="4" baseType="variant">
      <vt:variant>
        <vt:lpstr>Thème</vt:lpstr>
      </vt:variant>
      <vt:variant>
        <vt:i4>11</vt:i4>
      </vt:variant>
      <vt:variant>
        <vt:lpstr>Titres des diapositives</vt:lpstr>
      </vt:variant>
      <vt:variant>
        <vt:i4>57</vt:i4>
      </vt:variant>
    </vt:vector>
  </HeadingPairs>
  <TitlesOfParts>
    <vt:vector size="68" baseType="lpstr"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Resources base template</vt:lpstr>
      <vt:lpstr>Design First OpenApi et AsyncApi en action !</vt:lpstr>
      <vt:lpstr>Qui suis-je ?</vt:lpstr>
      <vt:lpstr>Un peu d'historique</vt:lpstr>
      <vt:lpstr>Un peu d'historique</vt:lpstr>
      <vt:lpstr>Une démarche API</vt:lpstr>
      <vt:lpstr>Une démarche API</vt:lpstr>
      <vt:lpstr>Une démarche API</vt:lpstr>
      <vt:lpstr>Code First</vt:lpstr>
      <vt:lpstr>Code First</vt:lpstr>
      <vt:lpstr>Code First</vt:lpstr>
      <vt:lpstr>Code First</vt:lpstr>
      <vt:lpstr>Code First</vt:lpstr>
      <vt:lpstr>Design First</vt:lpstr>
      <vt:lpstr>Design First</vt:lpstr>
      <vt:lpstr>OpenApi &amp; AsyncApi</vt:lpstr>
      <vt:lpstr>OpenApi &amp; AsyncApi</vt:lpstr>
      <vt:lpstr>Les initiatives</vt:lpstr>
      <vt:lpstr>Les spécifications</vt:lpstr>
      <vt:lpstr>Présentation PowerPoint</vt:lpstr>
      <vt:lpstr>Présentation PowerPoint</vt:lpstr>
      <vt:lpstr>OpenApi : notre cas d'usage</vt:lpstr>
      <vt:lpstr>OpenApi : Designer</vt:lpstr>
      <vt:lpstr>OpenApi : Designer</vt:lpstr>
      <vt:lpstr>Présentation PowerPoint</vt:lpstr>
      <vt:lpstr>OpenApi : Tooling</vt:lpstr>
      <vt:lpstr>Démo</vt:lpstr>
      <vt:lpstr>Génération client</vt:lpstr>
      <vt:lpstr>Génération client</vt:lpstr>
      <vt:lpstr>Génération client</vt:lpstr>
      <vt:lpstr>Démo</vt:lpstr>
      <vt:lpstr>Génération server</vt:lpstr>
      <vt:lpstr>Génération server</vt:lpstr>
      <vt:lpstr>Génération server</vt:lpstr>
      <vt:lpstr>Démo</vt:lpstr>
      <vt:lpstr>AsyncApi : notre cas d'usage</vt:lpstr>
      <vt:lpstr>AsyncApi : Définir l'API</vt:lpstr>
      <vt:lpstr>AsyncApi : Définir l'API</vt:lpstr>
      <vt:lpstr>AsyncApi : Designer</vt:lpstr>
      <vt:lpstr>AsyncApi : Tools</vt:lpstr>
      <vt:lpstr>Démo</vt:lpstr>
      <vt:lpstr>ZenWave SDK</vt:lpstr>
      <vt:lpstr>ZenWave SDK</vt:lpstr>
      <vt:lpstr>Génération du Producer</vt:lpstr>
      <vt:lpstr>Génération du Producer</vt:lpstr>
      <vt:lpstr>Présentation PowerPoint</vt:lpstr>
      <vt:lpstr>Présentation PowerPoint</vt:lpstr>
      <vt:lpstr>Démo</vt:lpstr>
      <vt:lpstr>Génération consumer</vt:lpstr>
      <vt:lpstr>Génération consumer</vt:lpstr>
      <vt:lpstr>Présentation PowerPoint</vt:lpstr>
      <vt:lpstr>Présentation PowerPoint</vt:lpstr>
      <vt:lpstr>Démo</vt:lpstr>
      <vt:lpstr>Notre cas d'usage</vt:lpstr>
      <vt:lpstr>Pour conclure</vt:lpstr>
      <vt:lpstr>Pour conclure</vt:lpstr>
      <vt:lpstr>Merci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revision>11</cp:revision>
  <dcterms:modified xsi:type="dcterms:W3CDTF">2025-10-15T13:07:34Z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51</vt:i4>
  </property>
  <property fmtid="{D5CDD505-2E9C-101B-9397-08002B2CF9AE}" pid="4" name="PresentationFormat">
    <vt:lpwstr>On-screen Show (16:9)</vt:lpwstr>
  </property>
  <property fmtid="{D5CDD505-2E9C-101B-9397-08002B2CF9AE}" pid="5" name="Slides">
    <vt:i4>51</vt:i4>
  </property>
</Properties>
</file>